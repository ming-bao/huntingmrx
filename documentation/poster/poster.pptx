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600000" cy="30492000"/>
  <p:notesSz cx="30492000" cy="216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535bffca-40df-0a13-e1b3-c8c6e183864c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332000" y="1080000"/>
            <a:ext cx="252000" cy="252000"/>
          </a:xfrm>
          <a:prstGeom prst="ellipse">
            <a:avLst/>
          </a:prstGeom>
          <a:solidFill>
            <a:srgbClr val="3E7B7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9800000" y="1080000"/>
            <a:ext cx="252000" cy="252000"/>
          </a:xfrm>
          <a:prstGeom prst="ellipse">
            <a:avLst/>
          </a:prstGeom>
          <a:solidFill>
            <a:srgbClr val="3E7B7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0268000" y="1080000"/>
            <a:ext cx="252000" cy="252000"/>
          </a:xfrm>
          <a:prstGeom prst="ellipse">
            <a:avLst/>
          </a:prstGeom>
          <a:solidFill>
            <a:srgbClr val="3E7B7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864000" y="1512000"/>
            <a:ext cx="252000" cy="252000"/>
          </a:xfrm>
          <a:prstGeom prst="ellipse">
            <a:avLst/>
          </a:prstGeom>
          <a:solidFill>
            <a:srgbClr val="3E7B7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9332000" y="1512000"/>
            <a:ext cx="252000" cy="252000"/>
          </a:xfrm>
          <a:prstGeom prst="ellipse">
            <a:avLst/>
          </a:prstGeom>
          <a:solidFill>
            <a:srgbClr val="3E7B7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800000" y="1512000"/>
            <a:ext cx="252000" cy="252000"/>
          </a:xfrm>
          <a:prstGeom prst="ellipse">
            <a:avLst/>
          </a:prstGeom>
          <a:solidFill>
            <a:srgbClr val="3E7B7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0268000" y="1512000"/>
            <a:ext cx="252000" cy="252000"/>
          </a:xfrm>
          <a:prstGeom prst="ellipse">
            <a:avLst/>
          </a:prstGeom>
          <a:solidFill>
            <a:srgbClr val="3E7B7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1080000" y="3168000"/>
            <a:ext cx="10656000" cy="1800000"/>
          </a:xfrm>
          <a:prstGeom prst="rect">
            <a:avLst>
              <a:gd name="adj" fmla="val 6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/>
          <p:nvPr>
            <p:ph idx="108" type="title" hasCustomPrompt="1"/>
          </p:nvPr>
        </p:nvSpPr>
        <p:spPr>
          <a:xfrm>
            <a:off x="1080000" y="792000"/>
            <a:ext cx="15840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8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8400" dirty="0"/>
          </a:p>
        </p:txBody>
      </p:sp>
      <p:sp>
        <p:nvSpPr>
          <p:cNvPr id="11" name="Text 8"/>
          <p:cNvSpPr/>
          <p:nvPr>
            <p:ph idx="109" type="body" hasCustomPrompt="1"/>
          </p:nvPr>
        </p:nvSpPr>
        <p:spPr>
          <a:xfrm>
            <a:off x="1440000" y="3240000"/>
            <a:ext cx="9936000" cy="165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12" name="Image 0" descr="/mnt/other/UniFiles/400-level-docs/Tri1/ENGR489/Scotland-Yard-NC/documentation/poster/qr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584000" y="29016000"/>
            <a:ext cx="936000" cy="936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80000" y="29088000"/>
            <a:ext cx="18216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Source code: scan the QR code.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Board-game mechanics used with permission from Ravensburger, for non-commercial academic use.</a:t>
            </a: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image" Target="../media/image-1-9.png"/><Relationship Id="rId10" Type="http://schemas.openxmlformats.org/officeDocument/2006/relationships/image" Target="../media/image-1-10.svg"/><Relationship Id="rId11" Type="http://schemas.openxmlformats.org/officeDocument/2006/relationships/image" Target="../media/image-1-11.jpg"/><Relationship Id="rId12" Type="http://schemas.openxmlformats.org/officeDocument/2006/relationships/image" Target="../media/image-1-12.jpg"/><Relationship Id="rId13" Type="http://schemas.openxmlformats.org/officeDocument/2006/relationships/image" Target="../media/image-1-13.png"/><Relationship Id="rId14" Type="http://schemas.openxmlformats.org/officeDocument/2006/relationships/image" Target="../media/image-1-14.svg"/><Relationship Id="rId15" Type="http://schemas.openxmlformats.org/officeDocument/2006/relationships/image" Target="../media/image-1-15.png"/><Relationship Id="rId16" Type="http://schemas.openxmlformats.org/officeDocument/2006/relationships/image" Target="../media/image-1-16.svg"/><Relationship Id="rId17" Type="http://schemas.openxmlformats.org/officeDocument/2006/relationships/image" Target="../media/image-1-17.png"/><Relationship Id="rId18" Type="http://schemas.openxmlformats.org/officeDocument/2006/relationships/image" Target="../media/image-1-18.svg"/><Relationship Id="rId19" Type="http://schemas.openxmlformats.org/officeDocument/2006/relationships/image" Target="../media/image-1-19.png"/><Relationship Id="rId20" Type="http://schemas.openxmlformats.org/officeDocument/2006/relationships/image" Target="../media/image-1-20.svg"/><Relationship Id="rId21" Type="http://schemas.openxmlformats.org/officeDocument/2006/relationships/image" Target="../media/image-1-21.png"/><Relationship Id="rId22" Type="http://schemas.openxmlformats.org/officeDocument/2006/relationships/image" Target="../media/image-1-22.svg"/><Relationship Id="rId23" Type="http://schemas.openxmlformats.org/officeDocument/2006/relationships/image" Target="../media/image-1-23.png"/><Relationship Id="rId24" Type="http://schemas.openxmlformats.org/officeDocument/2006/relationships/image" Target="../media/image-1-24.svg"/><Relationship Id="rId25" Type="http://schemas.openxmlformats.org/officeDocument/2006/relationships/image" Target="../media/image-1-25.png"/><Relationship Id="rId26" Type="http://schemas.openxmlformats.org/officeDocument/2006/relationships/image" Target="../media/image-1-26.svg"/><Relationship Id="rId27" Type="http://schemas.openxmlformats.org/officeDocument/2006/relationships/image" Target="../media/image-1-27.png"/><Relationship Id="rId28" Type="http://schemas.openxmlformats.org/officeDocument/2006/relationships/image" Target="../media/image-1-28.svg"/><Relationship Id="rId29" Type="http://schemas.openxmlformats.org/officeDocument/2006/relationships/slideLayout" Target="../slideLayouts/slideLayout2.xml"/><Relationship Id="rId3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08" type="title" hasCustomPrompt="1"/>
          </p:nvPr>
        </p:nvSpPr>
        <p:spPr>
          <a:xfrm>
            <a:off x="1080000" y="792000"/>
            <a:ext cx="15840000" cy="2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HUNTING MR. X</a:t>
            </a:r>
            <a:endParaRPr lang="en-US" sz="84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WELLINGTON EDITION</a:t>
            </a:r>
            <a:endParaRPr lang="en-US" sz="8400" dirty="0"/>
          </a:p>
        </p:txBody>
      </p:sp>
      <p:sp>
        <p:nvSpPr>
          <p:cNvPr id="3" name="Text 8"/>
          <p:cNvSpPr/>
          <p:nvPr>
            <p:ph idx="109" type="body" hasCustomPrompt="1"/>
          </p:nvPr>
        </p:nvSpPr>
        <p:spPr>
          <a:xfrm>
            <a:off x="1440000" y="3240000"/>
            <a:ext cx="9936000" cy="16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 new Open Day demo: a classic board game, rebuilt to play online on a real map of Wellington</a:t>
            </a:r>
            <a:endParaRPr lang="en-US" sz="3200" dirty="0"/>
          </a:p>
        </p:txBody>
      </p:sp>
      <p:sp>
        <p:nvSpPr>
          <p:cNvPr id="4" name="shape-1"/>
          <p:cNvSpPr/>
          <p:nvPr/>
        </p:nvSpPr>
        <p:spPr>
          <a:xfrm>
            <a:off x="12240000" y="3168000"/>
            <a:ext cx="8280000" cy="18000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5" name="shape-2"/>
          <p:cNvSpPr/>
          <p:nvPr/>
        </p:nvSpPr>
        <p:spPr>
          <a:xfrm>
            <a:off x="12528000" y="3528000"/>
            <a:ext cx="1080000" cy="1080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pic>
        <p:nvPicPr>
          <p:cNvPr id="6" name="icon-3" descr="/mnt/other/UniFiles/400-level-docs/Tri1/ENGR489/Scotland-Yard-NC/documentation/poster/icons/graduation-ca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708000" y="3708000"/>
            <a:ext cx="720000" cy="720000"/>
          </a:xfrm>
          <a:prstGeom prst="rect">
            <a:avLst/>
          </a:prstGeom>
        </p:spPr>
      </p:pic>
      <p:sp>
        <p:nvSpPr>
          <p:cNvPr id="7" name="text-4"/>
          <p:cNvSpPr txBox="1"/>
          <p:nvPr/>
        </p:nvSpPr>
        <p:spPr>
          <a:xfrm>
            <a:off x="13896000" y="3312000"/>
            <a:ext cx="640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 BAO</a:t>
            </a:r>
            <a:endParaRPr lang="en-US" sz="4400" dirty="0"/>
          </a:p>
        </p:txBody>
      </p:sp>
      <p:sp>
        <p:nvSpPr>
          <p:cNvPr id="8" name="text-5"/>
          <p:cNvSpPr txBox="1"/>
          <p:nvPr/>
        </p:nvSpPr>
        <p:spPr>
          <a:xfrm>
            <a:off x="13896000" y="3960000"/>
            <a:ext cx="6408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Supervisors: Jens Dietrich, Stuart Marshall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ENGR489, Victoria University of Wellington</a:t>
            </a:r>
            <a:endParaRPr lang="en-US" sz="2400" dirty="0"/>
          </a:p>
        </p:txBody>
      </p:sp>
      <p:sp>
        <p:nvSpPr>
          <p:cNvPr id="9" name="shape-6"/>
          <p:cNvSpPr/>
          <p:nvPr/>
        </p:nvSpPr>
        <p:spPr>
          <a:xfrm>
            <a:off x="1080000" y="5256000"/>
            <a:ext cx="19440000" cy="302400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0" name="shape-7"/>
          <p:cNvSpPr/>
          <p:nvPr/>
        </p:nvSpPr>
        <p:spPr>
          <a:xfrm>
            <a:off x="1080000" y="5256000"/>
            <a:ext cx="19440000" cy="6480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1" name="shape-8"/>
          <p:cNvSpPr/>
          <p:nvPr/>
        </p:nvSpPr>
        <p:spPr>
          <a:xfrm>
            <a:off x="1080000" y="5580000"/>
            <a:ext cx="19440000" cy="32400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12" name="icon-9" descr="/mnt/other/UniFiles/400-level-docs/Tri1/ENGR489/Scotland-Yard-NC/documentation/poster/icons/trophy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2000" y="5400000"/>
            <a:ext cx="360000" cy="360000"/>
          </a:xfrm>
          <a:prstGeom prst="rect">
            <a:avLst/>
          </a:prstGeom>
        </p:spPr>
      </p:pic>
      <p:sp>
        <p:nvSpPr>
          <p:cNvPr id="13" name="text-10"/>
          <p:cNvSpPr txBox="1"/>
          <p:nvPr/>
        </p:nvSpPr>
        <p:spPr>
          <a:xfrm>
            <a:off x="1872000" y="5328000"/>
            <a:ext cx="18360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4000" dirty="0"/>
          </a:p>
        </p:txBody>
      </p:sp>
      <p:sp>
        <p:nvSpPr>
          <p:cNvPr id="14" name="text-11"/>
          <p:cNvSpPr txBox="1"/>
          <p:nvPr/>
        </p:nvSpPr>
        <p:spPr>
          <a:xfrm>
            <a:off x="1368000" y="6120000"/>
            <a:ext cx="6288000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Day</a:t>
            </a:r>
            <a:endParaRPr lang="en-US" sz="7200" dirty="0"/>
          </a:p>
        </p:txBody>
      </p:sp>
      <p:sp>
        <p:nvSpPr>
          <p:cNvPr id="15" name="text-12"/>
          <p:cNvSpPr txBox="1"/>
          <p:nvPr/>
        </p:nvSpPr>
        <p:spPr>
          <a:xfrm>
            <a:off x="1368000" y="7236000"/>
            <a:ext cx="6288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played live by visitors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</a:rPr>
              <a:t>on the stand's laptops</a:t>
            </a:r>
            <a:endParaRPr lang="en-US" sz="2800" dirty="0"/>
          </a:p>
        </p:txBody>
      </p:sp>
      <p:sp>
        <p:nvSpPr>
          <p:cNvPr id="16" name="divider-13"/>
          <p:cNvSpPr/>
          <p:nvPr/>
        </p:nvSpPr>
        <p:spPr>
          <a:xfrm>
            <a:off x="7656000" y="6264000"/>
            <a:ext cx="0" cy="187200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7" name="text-14"/>
          <p:cNvSpPr txBox="1"/>
          <p:nvPr/>
        </p:nvSpPr>
        <p:spPr>
          <a:xfrm>
            <a:off x="7656000" y="6120000"/>
            <a:ext cx="6288000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places</a:t>
            </a:r>
            <a:endParaRPr lang="en-US" sz="7200" dirty="0"/>
          </a:p>
        </p:txBody>
      </p:sp>
      <p:sp>
        <p:nvSpPr>
          <p:cNvPr id="18" name="text-15"/>
          <p:cNvSpPr txBox="1"/>
          <p:nvPr/>
        </p:nvSpPr>
        <p:spPr>
          <a:xfrm>
            <a:off x="7656000" y="7236000"/>
            <a:ext cx="6288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 a real map of Wellington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</a:rPr>
              <a:t>by bus, train, ferry and e-scooter</a:t>
            </a:r>
            <a:endParaRPr lang="en-US" sz="2800" dirty="0"/>
          </a:p>
        </p:txBody>
      </p:sp>
      <p:sp>
        <p:nvSpPr>
          <p:cNvPr id="19" name="divider-16"/>
          <p:cNvSpPr/>
          <p:nvPr/>
        </p:nvSpPr>
        <p:spPr>
          <a:xfrm>
            <a:off x="13944000" y="6264000"/>
            <a:ext cx="0" cy="187200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20" name="text-17"/>
          <p:cNvSpPr txBox="1"/>
          <p:nvPr/>
        </p:nvSpPr>
        <p:spPr>
          <a:xfrm>
            <a:off x="13944000" y="6120000"/>
            <a:ext cx="6288000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install</a:t>
            </a:r>
            <a:endParaRPr lang="en-US" sz="7200" dirty="0"/>
          </a:p>
        </p:txBody>
      </p:sp>
      <p:sp>
        <p:nvSpPr>
          <p:cNvPr id="21" name="text-18"/>
          <p:cNvSpPr txBox="1"/>
          <p:nvPr/>
        </p:nvSpPr>
        <p:spPr>
          <a:xfrm>
            <a:off x="13944000" y="7236000"/>
            <a:ext cx="6288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join from a web browser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</a:rPr>
              <a:t>with a link or a six-letter code</a:t>
            </a:r>
            <a:endParaRPr lang="en-US" sz="2800" dirty="0"/>
          </a:p>
        </p:txBody>
      </p:sp>
      <p:sp>
        <p:nvSpPr>
          <p:cNvPr id="22" name="shape-19"/>
          <p:cNvSpPr/>
          <p:nvPr/>
        </p:nvSpPr>
        <p:spPr>
          <a:xfrm>
            <a:off x="1080000" y="8640000"/>
            <a:ext cx="9144000" cy="288000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23" name="shape-20"/>
          <p:cNvSpPr/>
          <p:nvPr/>
        </p:nvSpPr>
        <p:spPr>
          <a:xfrm>
            <a:off x="1296000" y="8784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24" name="icon-21" descr="/mnt/other/UniFiles/400-level-docs/Tri1/ENGR489/Scotland-Yard-NC/documentation/poster/icons/target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86000" y="8874000"/>
            <a:ext cx="288000" cy="288000"/>
          </a:xfrm>
          <a:prstGeom prst="rect">
            <a:avLst/>
          </a:prstGeom>
        </p:spPr>
      </p:pic>
      <p:sp>
        <p:nvSpPr>
          <p:cNvPr id="25" name="text-22"/>
          <p:cNvSpPr txBox="1"/>
          <p:nvPr/>
        </p:nvSpPr>
        <p:spPr>
          <a:xfrm>
            <a:off x="1908000" y="8748000"/>
            <a:ext cx="8064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OPEN DAY?</a:t>
            </a:r>
            <a:endParaRPr lang="en-US" sz="4000" dirty="0"/>
          </a:p>
        </p:txBody>
      </p:sp>
      <p:sp>
        <p:nvSpPr>
          <p:cNvPr id="26" name="rule-23"/>
          <p:cNvSpPr/>
          <p:nvPr/>
        </p:nvSpPr>
        <p:spPr>
          <a:xfrm>
            <a:off x="1080000" y="9396000"/>
            <a:ext cx="9144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7" name="text-24"/>
          <p:cNvSpPr txBox="1"/>
          <p:nvPr/>
        </p:nvSpPr>
        <p:spPr>
          <a:xfrm>
            <a:off x="1368000" y="9576000"/>
            <a:ext cx="8568000" cy="1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The old software demo was over five years old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Visitors need something to try in a few minutes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A game set in their own city starts conversations</a:t>
            </a:r>
            <a:endParaRPr lang="en-US" sz="2600" dirty="0"/>
          </a:p>
        </p:txBody>
      </p:sp>
      <p:sp>
        <p:nvSpPr>
          <p:cNvPr id="28" name="shape-25"/>
          <p:cNvSpPr/>
          <p:nvPr/>
        </p:nvSpPr>
        <p:spPr>
          <a:xfrm>
            <a:off x="10656000" y="8640000"/>
            <a:ext cx="9864000" cy="288000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29" name="shape-26"/>
          <p:cNvSpPr/>
          <p:nvPr/>
        </p:nvSpPr>
        <p:spPr>
          <a:xfrm>
            <a:off x="10872000" y="8784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30" name="icon-27" descr="/mnt/other/UniFiles/400-level-docs/Tri1/ENGR489/Scotland-Yard-NC/documentation/poster/icons/gamepad-2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62000" y="8874000"/>
            <a:ext cx="288000" cy="288000"/>
          </a:xfrm>
          <a:prstGeom prst="rect">
            <a:avLst/>
          </a:prstGeom>
        </p:spPr>
      </p:pic>
      <p:sp>
        <p:nvSpPr>
          <p:cNvPr id="31" name="text-28"/>
          <p:cNvSpPr txBox="1"/>
          <p:nvPr/>
        </p:nvSpPr>
        <p:spPr>
          <a:xfrm>
            <a:off x="11484000" y="8748000"/>
            <a:ext cx="8784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PLAY</a:t>
            </a:r>
            <a:endParaRPr lang="en-US" sz="4000" dirty="0"/>
          </a:p>
        </p:txBody>
      </p:sp>
      <p:sp>
        <p:nvSpPr>
          <p:cNvPr id="32" name="rule-29"/>
          <p:cNvSpPr/>
          <p:nvPr/>
        </p:nvSpPr>
        <p:spPr>
          <a:xfrm>
            <a:off x="10656000" y="9396000"/>
            <a:ext cx="9864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33" name="text-30"/>
          <p:cNvSpPr txBox="1"/>
          <p:nvPr/>
        </p:nvSpPr>
        <p:spPr>
          <a:xfrm>
            <a:off x="10944000" y="9576000"/>
            <a:ext cx="9288000" cy="1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One player is Mr X; up to five detectives hunt him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Everyone travels by bus, train, ferry or e-scooter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Mr X stays hidden, shown only every few rounds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Catch him within 24 rounds to win</a:t>
            </a:r>
            <a:endParaRPr lang="en-US" sz="2600" dirty="0"/>
          </a:p>
        </p:txBody>
      </p:sp>
      <p:sp>
        <p:nvSpPr>
          <p:cNvPr id="34" name="shape-31"/>
          <p:cNvSpPr/>
          <p:nvPr/>
        </p:nvSpPr>
        <p:spPr>
          <a:xfrm>
            <a:off x="1080000" y="11880000"/>
            <a:ext cx="19440000" cy="7056000"/>
          </a:xfrm>
          <a:prstGeom prst="roundRect">
            <a:avLst>
              <a:gd name="adj" fmla="val 1531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35" name="shape-32"/>
          <p:cNvSpPr/>
          <p:nvPr/>
        </p:nvSpPr>
        <p:spPr>
          <a:xfrm>
            <a:off x="1296000" y="12024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36" name="icon-33" descr="/mnt/other/UniFiles/400-level-docs/Tri1/ENGR489/Scotland-Yard-NC/documentation/poster/icons/eye-off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86000" y="12114000"/>
            <a:ext cx="288000" cy="288000"/>
          </a:xfrm>
          <a:prstGeom prst="rect">
            <a:avLst/>
          </a:prstGeom>
        </p:spPr>
      </p:pic>
      <p:sp>
        <p:nvSpPr>
          <p:cNvPr id="37" name="text-34"/>
          <p:cNvSpPr txBox="1"/>
          <p:nvPr/>
        </p:nvSpPr>
        <p:spPr>
          <a:xfrm>
            <a:off x="1908000" y="11988000"/>
            <a:ext cx="18360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GAME, DIFFERENT SECRETS</a:t>
            </a:r>
            <a:endParaRPr lang="en-US" sz="4000" dirty="0"/>
          </a:p>
        </p:txBody>
      </p:sp>
      <p:sp>
        <p:nvSpPr>
          <p:cNvPr id="38" name="rule-35"/>
          <p:cNvSpPr/>
          <p:nvPr/>
        </p:nvSpPr>
        <p:spPr>
          <a:xfrm>
            <a:off x="1080000" y="12636000"/>
            <a:ext cx="19440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pic>
        <p:nvPicPr>
          <p:cNvPr id="39" name="board-mrx" descr="Mr X's screen: the map with his own token show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8000" y="12816000"/>
            <a:ext cx="9252000" cy="5525500"/>
          </a:xfrm>
          <a:prstGeom prst="rect">
            <a:avLst/>
          </a:prstGeom>
        </p:spPr>
      </p:pic>
      <p:pic>
        <p:nvPicPr>
          <p:cNvPr id="40" name="board-detective" descr="A detective's screen: Mr X's location shown as a question mar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80000" y="12816000"/>
            <a:ext cx="9252000" cy="5525500"/>
          </a:xfrm>
          <a:prstGeom prst="rect">
            <a:avLst/>
          </a:prstGeom>
        </p:spPr>
      </p:pic>
      <p:sp>
        <p:nvSpPr>
          <p:cNvPr id="41" name="leader-36"/>
          <p:cNvSpPr/>
          <p:nvPr/>
        </p:nvSpPr>
        <p:spPr>
          <a:xfrm>
            <a:off x="3867120" y="13574830"/>
            <a:ext cx="1932588" cy="72000"/>
          </a:xfrm>
          <a:prstGeom prst="line">
            <a:avLst/>
          </a:prstGeom>
          <a:noFill/>
          <a:ln w="76200">
            <a:solidFill>
              <a:schemeClr val="accent1"/>
            </a:solidFill>
            <a:prstDash val="solid"/>
          </a:ln>
        </p:spPr>
      </p:sp>
      <p:sp>
        <p:nvSpPr>
          <p:cNvPr id="42" name="ring-37"/>
          <p:cNvSpPr/>
          <p:nvPr/>
        </p:nvSpPr>
        <p:spPr>
          <a:xfrm>
            <a:off x="5475708" y="13646830"/>
            <a:ext cx="648000" cy="648000"/>
          </a:xfrm>
          <a:prstGeom prst="ellipse">
            <a:avLst/>
          </a:prstGeom>
          <a:ln w="88900">
            <a:solidFill>
              <a:schemeClr val="accent1"/>
            </a:solidFill>
            <a:prstDash val="solid"/>
          </a:ln>
        </p:spPr>
      </p:sp>
      <p:sp>
        <p:nvSpPr>
          <p:cNvPr id="43" name="callout-38"/>
          <p:cNvSpPr/>
          <p:nvPr/>
        </p:nvSpPr>
        <p:spPr>
          <a:xfrm>
            <a:off x="1923120" y="13322830"/>
            <a:ext cx="3888000" cy="504000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He sees where he is</a:t>
            </a:r>
            <a:endParaRPr lang="en-US" sz="2800" dirty="0"/>
          </a:p>
        </p:txBody>
      </p:sp>
      <p:sp>
        <p:nvSpPr>
          <p:cNvPr id="44" name="leader-39"/>
          <p:cNvSpPr/>
          <p:nvPr/>
        </p:nvSpPr>
        <p:spPr>
          <a:xfrm>
            <a:off x="17029080" y="13254519"/>
            <a:ext cx="3064140" cy="108000"/>
          </a:xfrm>
          <a:prstGeom prst="line">
            <a:avLst/>
          </a:prstGeom>
          <a:noFill/>
          <a:ln w="76200">
            <a:solidFill>
              <a:schemeClr val="accent1"/>
            </a:solidFill>
            <a:prstDash val="solid"/>
          </a:ln>
        </p:spPr>
      </p:sp>
      <p:sp>
        <p:nvSpPr>
          <p:cNvPr id="45" name="ring-40"/>
          <p:cNvSpPr/>
          <p:nvPr/>
        </p:nvSpPr>
        <p:spPr>
          <a:xfrm>
            <a:off x="19877220" y="13362519"/>
            <a:ext cx="432000" cy="432000"/>
          </a:xfrm>
          <a:prstGeom prst="ellipse">
            <a:avLst/>
          </a:prstGeom>
          <a:ln w="88900">
            <a:solidFill>
              <a:schemeClr val="accent1"/>
            </a:solidFill>
            <a:prstDash val="solid"/>
          </a:ln>
        </p:spPr>
      </p:sp>
      <p:sp>
        <p:nvSpPr>
          <p:cNvPr id="46" name="callout-41"/>
          <p:cNvSpPr/>
          <p:nvPr/>
        </p:nvSpPr>
        <p:spPr>
          <a:xfrm>
            <a:off x="15769080" y="13002519"/>
            <a:ext cx="2520000" cy="504000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They see “?”</a:t>
            </a:r>
            <a:endParaRPr lang="en-US" sz="2800" dirty="0"/>
          </a:p>
        </p:txBody>
      </p:sp>
      <p:sp>
        <p:nvSpPr>
          <p:cNvPr id="47" name="pill-42"/>
          <p:cNvSpPr/>
          <p:nvPr/>
        </p:nvSpPr>
        <p:spPr>
          <a:xfrm>
            <a:off x="1368000" y="18485500"/>
            <a:ext cx="1008000" cy="3960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Mr. X</a:t>
            </a:r>
            <a:endParaRPr lang="en-US" sz="2400" dirty="0"/>
          </a:p>
        </p:txBody>
      </p:sp>
      <p:sp>
        <p:nvSpPr>
          <p:cNvPr id="48" name="text-43"/>
          <p:cNvSpPr txBox="1"/>
          <p:nvPr/>
        </p:nvSpPr>
        <p:spPr>
          <a:xfrm>
            <a:off x="2520000" y="18449500"/>
            <a:ext cx="810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moves in secret across the city.</a:t>
            </a:r>
            <a:endParaRPr lang="en-US" sz="2600" dirty="0"/>
          </a:p>
        </p:txBody>
      </p:sp>
      <p:sp>
        <p:nvSpPr>
          <p:cNvPr id="49" name="pill-44"/>
          <p:cNvSpPr/>
          <p:nvPr/>
        </p:nvSpPr>
        <p:spPr>
          <a:xfrm>
            <a:off x="10980000" y="18485500"/>
            <a:ext cx="1440000" cy="396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Detective</a:t>
            </a:r>
            <a:endParaRPr lang="en-US" sz="2400" dirty="0"/>
          </a:p>
        </p:txBody>
      </p:sp>
      <p:sp>
        <p:nvSpPr>
          <p:cNvPr id="50" name="text-45"/>
          <p:cNvSpPr txBox="1"/>
          <p:nvPr/>
        </p:nvSpPr>
        <p:spPr>
          <a:xfrm>
            <a:off x="12564000" y="18449500"/>
            <a:ext cx="7668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sees him only in rounds 2, 8, 13, 18 and 24.</a:t>
            </a:r>
            <a:endParaRPr lang="en-US" sz="2600" dirty="0"/>
          </a:p>
        </p:txBody>
      </p:sp>
      <p:sp>
        <p:nvSpPr>
          <p:cNvPr id="51" name="shape-46"/>
          <p:cNvSpPr/>
          <p:nvPr/>
        </p:nvSpPr>
        <p:spPr>
          <a:xfrm>
            <a:off x="1080000" y="19296000"/>
            <a:ext cx="19440000" cy="396000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52" name="shape-47"/>
          <p:cNvSpPr/>
          <p:nvPr/>
        </p:nvSpPr>
        <p:spPr>
          <a:xfrm>
            <a:off x="1080000" y="19296000"/>
            <a:ext cx="19440000" cy="6480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53" name="shape-48"/>
          <p:cNvSpPr/>
          <p:nvPr/>
        </p:nvSpPr>
        <p:spPr>
          <a:xfrm>
            <a:off x="1080000" y="19620000"/>
            <a:ext cx="19440000" cy="32400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54" name="icon-49" descr="/mnt/other/UniFiles/400-level-docs/Tri1/ENGR489/Scotland-Yard-NC/documentation/poster/icons/shield-check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332000" y="19440000"/>
            <a:ext cx="360000" cy="360000"/>
          </a:xfrm>
          <a:prstGeom prst="rect">
            <a:avLst/>
          </a:prstGeom>
        </p:spPr>
      </p:pic>
      <p:sp>
        <p:nvSpPr>
          <p:cNvPr id="55" name="text-50"/>
          <p:cNvSpPr txBox="1"/>
          <p:nvPr/>
        </p:nvSpPr>
        <p:spPr>
          <a:xfrm>
            <a:off x="1872000" y="19368000"/>
            <a:ext cx="18360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CHALLENGES</a:t>
            </a:r>
            <a:endParaRPr lang="en-US" sz="4000" dirty="0"/>
          </a:p>
        </p:txBody>
      </p:sp>
      <p:sp>
        <p:nvSpPr>
          <p:cNvPr id="56" name="challenge-icon-51"/>
          <p:cNvSpPr/>
          <p:nvPr/>
        </p:nvSpPr>
        <p:spPr>
          <a:xfrm>
            <a:off x="1368000" y="20268000"/>
            <a:ext cx="648000" cy="648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7" name="icon-52" descr="/mnt/other/UniFiles/400-level-docs/Tri1/ENGR489/Scotland-Yard-NC/documentation/poster/icons/lock.sv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512000" y="20412000"/>
            <a:ext cx="360000" cy="360000"/>
          </a:xfrm>
          <a:prstGeom prst="rect">
            <a:avLst/>
          </a:prstGeom>
        </p:spPr>
      </p:pic>
      <p:sp>
        <p:nvSpPr>
          <p:cNvPr id="58" name="text-53"/>
          <p:cNvSpPr txBox="1"/>
          <p:nvPr/>
        </p:nvSpPr>
        <p:spPr>
          <a:xfrm>
            <a:off x="2160000" y="20268000"/>
            <a:ext cx="3600000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A SECRET</a:t>
            </a:r>
            <a:endParaRPr lang="en-US" sz="2800" dirty="0"/>
          </a:p>
        </p:txBody>
      </p:sp>
      <p:sp>
        <p:nvSpPr>
          <p:cNvPr id="59" name="text-54"/>
          <p:cNvSpPr txBox="1"/>
          <p:nvPr/>
        </p:nvSpPr>
        <p:spPr>
          <a:xfrm>
            <a:off x="1368000" y="21096000"/>
            <a:ext cx="4392000" cy="20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Each player is sent their own view, so Mr X's position never reaches a detective's screen.</a:t>
            </a:r>
            <a:endParaRPr lang="en-US" sz="2800" dirty="0"/>
          </a:p>
        </p:txBody>
      </p:sp>
      <p:sp>
        <p:nvSpPr>
          <p:cNvPr id="60" name="challenge-icon-55"/>
          <p:cNvSpPr/>
          <p:nvPr/>
        </p:nvSpPr>
        <p:spPr>
          <a:xfrm>
            <a:off x="6192000" y="20268000"/>
            <a:ext cx="648000" cy="648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1" name="icon-56" descr="/mnt/other/UniFiles/400-level-docs/Tri1/ENGR489/Scotland-Yard-NC/documentation/poster/icons/refresh-cw.sv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336000" y="20412000"/>
            <a:ext cx="360000" cy="360000"/>
          </a:xfrm>
          <a:prstGeom prst="rect">
            <a:avLst/>
          </a:prstGeom>
        </p:spPr>
      </p:pic>
      <p:sp>
        <p:nvSpPr>
          <p:cNvPr id="62" name="text-57"/>
          <p:cNvSpPr txBox="1"/>
          <p:nvPr/>
        </p:nvSpPr>
        <p:spPr>
          <a:xfrm>
            <a:off x="6984000" y="20268000"/>
            <a:ext cx="3600000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STAYING IN SYNC</a:t>
            </a:r>
            <a:endParaRPr lang="en-US" sz="2800" dirty="0"/>
          </a:p>
        </p:txBody>
      </p:sp>
      <p:sp>
        <p:nvSpPr>
          <p:cNvPr id="63" name="text-58"/>
          <p:cNvSpPr txBox="1"/>
          <p:nvPr/>
        </p:nvSpPr>
        <p:spPr>
          <a:xfrm>
            <a:off x="6192000" y="21096000"/>
            <a:ext cx="4392000" cy="20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Every move is pushed live to every screen. A dropped connection catches up by itself.</a:t>
            </a:r>
            <a:endParaRPr lang="en-US" sz="2800" dirty="0"/>
          </a:p>
        </p:txBody>
      </p:sp>
      <p:sp>
        <p:nvSpPr>
          <p:cNvPr id="64" name="challenge-icon-59"/>
          <p:cNvSpPr/>
          <p:nvPr/>
        </p:nvSpPr>
        <p:spPr>
          <a:xfrm>
            <a:off x="11016000" y="20268000"/>
            <a:ext cx="648000" cy="648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5" name="icon-60" descr="/mnt/other/UniFiles/400-level-docs/Tri1/ENGR489/Scotland-Yard-NC/documentation/poster/icons/map.sv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160000" y="20412000"/>
            <a:ext cx="360000" cy="360000"/>
          </a:xfrm>
          <a:prstGeom prst="rect">
            <a:avLst/>
          </a:prstGeom>
        </p:spPr>
      </p:pic>
      <p:sp>
        <p:nvSpPr>
          <p:cNvPr id="66" name="text-61"/>
          <p:cNvSpPr txBox="1"/>
          <p:nvPr/>
        </p:nvSpPr>
        <p:spPr>
          <a:xfrm>
            <a:off x="11808000" y="20268000"/>
            <a:ext cx="3600000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REAL MAP</a:t>
            </a:r>
            <a:endParaRPr lang="en-US" sz="2800" dirty="0"/>
          </a:p>
        </p:txBody>
      </p:sp>
      <p:sp>
        <p:nvSpPr>
          <p:cNvPr id="67" name="text-62"/>
          <p:cNvSpPr txBox="1"/>
          <p:nvPr/>
        </p:nvSpPr>
        <p:spPr>
          <a:xfrm>
            <a:off x="11016000" y="21096000"/>
            <a:ext cx="4392000" cy="20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Routes along real roads are worked out once, not paid for on every move.</a:t>
            </a:r>
            <a:endParaRPr lang="en-US" sz="2800" dirty="0"/>
          </a:p>
        </p:txBody>
      </p:sp>
      <p:sp>
        <p:nvSpPr>
          <p:cNvPr id="68" name="challenge-icon-63"/>
          <p:cNvSpPr/>
          <p:nvPr/>
        </p:nvSpPr>
        <p:spPr>
          <a:xfrm>
            <a:off x="15840000" y="20268000"/>
            <a:ext cx="648000" cy="648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9" name="icon-64" descr="/mnt/other/UniFiles/400-level-docs/Tri1/ENGR489/Scotland-Yard-NC/documentation/poster/icons/shield-check.sv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5984000" y="20412000"/>
            <a:ext cx="360000" cy="360000"/>
          </a:xfrm>
          <a:prstGeom prst="rect">
            <a:avLst/>
          </a:prstGeom>
        </p:spPr>
      </p:pic>
      <p:sp>
        <p:nvSpPr>
          <p:cNvPr id="70" name="text-65"/>
          <p:cNvSpPr txBox="1"/>
          <p:nvPr/>
        </p:nvSpPr>
        <p:spPr>
          <a:xfrm>
            <a:off x="16632000" y="20268000"/>
            <a:ext cx="3600000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PROVING IT WORKS</a:t>
            </a:r>
            <a:endParaRPr lang="en-US" sz="2800" dirty="0"/>
          </a:p>
        </p:txBody>
      </p:sp>
      <p:sp>
        <p:nvSpPr>
          <p:cNvPr id="71" name="text-66"/>
          <p:cNvSpPr txBox="1"/>
          <p:nvPr/>
        </p:nvSpPr>
        <p:spPr>
          <a:xfrm>
            <a:off x="15840000" y="21096000"/>
            <a:ext cx="4392000" cy="20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135 automated tests, including 300 random games. Every planted bug was caught.</a:t>
            </a:r>
            <a:endParaRPr lang="en-US" sz="2800" dirty="0"/>
          </a:p>
        </p:txBody>
      </p:sp>
      <p:sp>
        <p:nvSpPr>
          <p:cNvPr id="72" name="shape-67"/>
          <p:cNvSpPr/>
          <p:nvPr/>
        </p:nvSpPr>
        <p:spPr>
          <a:xfrm>
            <a:off x="1080000" y="23688000"/>
            <a:ext cx="11592000" cy="4968000"/>
          </a:xfrm>
          <a:prstGeom prst="roundRect">
            <a:avLst>
              <a:gd name="adj" fmla="val 2174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73" name="shape-68"/>
          <p:cNvSpPr/>
          <p:nvPr/>
        </p:nvSpPr>
        <p:spPr>
          <a:xfrm>
            <a:off x="1296000" y="23832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74" name="icon-69" descr="/mnt/other/UniFiles/400-level-docs/Tri1/ENGR489/Scotland-Yard-NC/documentation/poster/icons/layers.svg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86000" y="23922000"/>
            <a:ext cx="288000" cy="288000"/>
          </a:xfrm>
          <a:prstGeom prst="rect">
            <a:avLst/>
          </a:prstGeom>
        </p:spPr>
      </p:pic>
      <p:sp>
        <p:nvSpPr>
          <p:cNvPr id="75" name="text-70"/>
          <p:cNvSpPr txBox="1"/>
          <p:nvPr/>
        </p:nvSpPr>
        <p:spPr>
          <a:xfrm>
            <a:off x="1908000" y="23796000"/>
            <a:ext cx="10512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4000" dirty="0"/>
          </a:p>
        </p:txBody>
      </p:sp>
      <p:sp>
        <p:nvSpPr>
          <p:cNvPr id="76" name="rule-71"/>
          <p:cNvSpPr/>
          <p:nvPr/>
        </p:nvSpPr>
        <p:spPr>
          <a:xfrm>
            <a:off x="1080000" y="24444000"/>
            <a:ext cx="11592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graphicFrame>
        <p:nvGraphicFramePr>
          <p:cNvPr id="2" name="table-stac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68000" y="24624000"/>
          <a:ext cx="7704000" cy="914400"/>
        </p:xfrm>
        <a:graphic>
          <a:graphicData uri="http://schemas.openxmlformats.org/drawingml/2006/table">
            <a:tbl>
              <a:tblPr/>
              <a:tblGrid>
                <a:gridCol w="2376000"/>
                <a:gridCol w="5328000"/>
              </a:tblGrid>
              <a:tr h="63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screens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 3, TypeScript, Tailwind CSS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MapLibre GL, OpenStreetMap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server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21, Spring Boot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updates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WebSockets (STOMP)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JUnit 5, Mockito, PIT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Docker, Cloudflare Tunnel</a:t>
                      </a:r>
                      <a:endParaRPr lang="en-US" sz="2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9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78" name="board-graph" descr="The Wellington board graph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288000" y="24624000"/>
            <a:ext cx="3024000" cy="2854326"/>
          </a:xfrm>
          <a:prstGeom prst="rect">
            <a:avLst/>
          </a:prstGeom>
        </p:spPr>
      </p:pic>
      <p:sp>
        <p:nvSpPr>
          <p:cNvPr id="79" name="text-72"/>
          <p:cNvSpPr txBox="1"/>
          <p:nvPr/>
        </p:nvSpPr>
        <p:spPr>
          <a:xfrm>
            <a:off x="9144000" y="27514326"/>
            <a:ext cx="3384000" cy="3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The board: 216 places</a:t>
            </a:r>
            <a:endParaRPr lang="en-US" sz="2200" dirty="0"/>
          </a:p>
        </p:txBody>
      </p:sp>
      <p:sp>
        <p:nvSpPr>
          <p:cNvPr id="80" name="shape-73"/>
          <p:cNvSpPr/>
          <p:nvPr/>
        </p:nvSpPr>
        <p:spPr>
          <a:xfrm>
            <a:off x="13104000" y="23688000"/>
            <a:ext cx="7416000" cy="4968000"/>
          </a:xfrm>
          <a:prstGeom prst="roundRect">
            <a:avLst>
              <a:gd name="adj" fmla="val 2174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81" name="shape-74"/>
          <p:cNvSpPr/>
          <p:nvPr/>
        </p:nvSpPr>
        <p:spPr>
          <a:xfrm>
            <a:off x="13320000" y="23832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82" name="icon-75" descr="/mnt/other/UniFiles/400-level-docs/Tri1/ENGR489/Scotland-Yard-NC/documentation/poster/icons/flag.svg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3410000" y="23922000"/>
            <a:ext cx="288000" cy="288000"/>
          </a:xfrm>
          <a:prstGeom prst="rect">
            <a:avLst/>
          </a:prstGeom>
        </p:spPr>
      </p:pic>
      <p:sp>
        <p:nvSpPr>
          <p:cNvPr id="83" name="text-76"/>
          <p:cNvSpPr txBox="1"/>
          <p:nvPr/>
        </p:nvSpPr>
        <p:spPr>
          <a:xfrm>
            <a:off x="13932000" y="23796000"/>
            <a:ext cx="6336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4000" dirty="0"/>
          </a:p>
        </p:txBody>
      </p:sp>
      <p:sp>
        <p:nvSpPr>
          <p:cNvPr id="84" name="rule-77"/>
          <p:cNvSpPr/>
          <p:nvPr/>
        </p:nvSpPr>
        <p:spPr>
          <a:xfrm>
            <a:off x="13104000" y="24444000"/>
            <a:ext cx="7416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85" name="text-78"/>
          <p:cNvSpPr txBox="1"/>
          <p:nvPr/>
        </p:nvSpPr>
        <p:spPr>
          <a:xfrm>
            <a:off x="13392000" y="24696000"/>
            <a:ext cx="68400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Played live at Open Day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Anyone can join over the internet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Ready for future Open Days</a:t>
            </a:r>
            <a:endParaRPr lang="en-US" sz="2600" dirty="0"/>
          </a:p>
        </p:txBody>
      </p:sp>
      <p:sp>
        <p:nvSpPr>
          <p:cNvPr id="86" name="text-79"/>
          <p:cNvSpPr txBox="1"/>
          <p:nvPr/>
        </p:nvSpPr>
        <p:spPr>
          <a:xfrm>
            <a:off x="13392000" y="26424000"/>
            <a:ext cx="684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87" name="text-80"/>
          <p:cNvSpPr txBox="1"/>
          <p:nvPr/>
        </p:nvSpPr>
        <p:spPr>
          <a:xfrm>
            <a:off x="13392000" y="26928000"/>
            <a:ext cx="68400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A big-screen view for the stand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A phone-friendly layout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Computer players for solo games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nting Mr X">
  <a:themeElements>
    <a:clrScheme name="Hunting Mr X">
      <a:dk1>
        <a:srgbClr val="111827"/>
      </a:dk1>
      <a:lt1>
        <a:srgbClr val="FFFFFF"/>
      </a:lt1>
      <a:dk2>
        <a:srgbClr val="4B5563"/>
      </a:dk2>
      <a:lt2>
        <a:srgbClr val="EAF3F1"/>
      </a:lt2>
      <a:accent1>
        <a:srgbClr val="3E7B74"/>
      </a:accent1>
      <a:accent2>
        <a:srgbClr val="D5E6E2"/>
      </a:accent2>
      <a:accent3>
        <a:srgbClr val="22C55E"/>
      </a:accent3>
      <a:accent4>
        <a:srgbClr val="EF4444"/>
      </a:accent4>
      <a:accent5>
        <a:srgbClr val="8B5CF6"/>
      </a:accent5>
      <a:accent6>
        <a:srgbClr val="06B6D4"/>
      </a:accent6>
      <a:hlink>
        <a:srgbClr val="3E7B74"/>
      </a:hlink>
      <a:folHlink>
        <a:srgbClr val="8B5CF6"/>
      </a:folHlink>
    </a:clrScheme>
    <a:fontScheme name="Hunting Mr 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Hunting Mr. X: Wellington Edition</dc:title>
  <dc:subject>PptxGenJS Presentation</dc:subject>
  <dc:creator>Ming Bao</dc:creator>
  <cp:lastModifiedBy>Ming Bao</cp:lastModifiedBy>
  <cp:revision>1</cp:revision>
  <dcterms:created xsi:type="dcterms:W3CDTF">2026-10-07T09:41:51Z</dcterms:created>
  <dcterms:modified xsi:type="dcterms:W3CDTF">2026-10-07T09:41:51Z</dcterms:modified>
</cp:coreProperties>
</file>