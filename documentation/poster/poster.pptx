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600000" cy="30492000"/>
  <p:notesSz cx="30492000" cy="216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29786220-3255-40e7-6aa6-fb67375020d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sv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00000" cy="597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3" name="Image 0" descr="/mnt/other/UniFiles/400-level-docs/Tri1/ENGR489/Scotland-Yard-NC/documentation/poster/hero-graph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00000" y="216000"/>
            <a:ext cx="5948188" cy="56160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080000" y="936000"/>
            <a:ext cx="13680000" cy="2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8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endParaRPr lang="en-US" sz="8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080000" y="3276000"/>
            <a:ext cx="13248000" cy="86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6" name="Image 1" descr="/mnt/other/UniFiles/400-level-docs/Tri1/ENGR489/Scotland-Yard-NC/documentation/poster/qr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84000" y="29016000"/>
            <a:ext cx="936000" cy="9360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080000" y="29088000"/>
            <a:ext cx="18216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Source code: scan the QR code.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Board-game mechanics used with permission from Ravensburger, for non-commercial academic use.</a:t>
            </a: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jpg"/><Relationship Id="rId30" Type="http://schemas.openxmlformats.org/officeDocument/2006/relationships/image" Target="../media/image-1-30.png"/><Relationship Id="rId31" Type="http://schemas.openxmlformats.org/officeDocument/2006/relationships/image" Target="../media/image-1-31.svg"/><Relationship Id="rId32" Type="http://schemas.openxmlformats.org/officeDocument/2006/relationships/slideLayout" Target="../slideLayouts/slideLayout2.xml"/><Relationship Id="rId3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1080000" y="504000"/>
            <a:ext cx="1368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chemeClr val="accent2"/>
                </a:solidFill>
              </a:rPr>
              <a:t>ENGR489 PROJECT  ·  VICTORIA UNIVERSITY OF WELLINGTON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080000" y="936000"/>
            <a:ext cx="13680000" cy="2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HUNTING MR. X</a:t>
            </a:r>
            <a:endParaRPr lang="en-US" sz="84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8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WELLINGTON EDITION</a:t>
            </a:r>
            <a:endParaRPr lang="en-US" sz="8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080000" y="3276000"/>
            <a:ext cx="13248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A new Open Day demo:</a:t>
            </a:r>
            <a:endParaRPr lang="en-US" sz="3000" dirty="0"/>
          </a:p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a classic board game, played online on a real map of Wellington</a:t>
            </a:r>
            <a:endParaRPr lang="en-US" sz="3000" dirty="0"/>
          </a:p>
        </p:txBody>
      </p:sp>
      <p:pic>
        <p:nvPicPr>
          <p:cNvPr id="5" name="icon-2" descr="/mnt/other/UniFiles/400-level-docs/Tri1/ENGR489/Scotland-Yard-NC/documentation/poster/icons/graduation-c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0000" y="4356000"/>
            <a:ext cx="396000" cy="396000"/>
          </a:xfrm>
          <a:prstGeom prst="rect">
            <a:avLst/>
          </a:prstGeom>
        </p:spPr>
      </p:pic>
      <p:sp>
        <p:nvSpPr>
          <p:cNvPr id="6" name="text-3"/>
          <p:cNvSpPr txBox="1"/>
          <p:nvPr/>
        </p:nvSpPr>
        <p:spPr>
          <a:xfrm>
            <a:off x="1620000" y="4320000"/>
            <a:ext cx="1296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Ming Bao</a:t>
            </a:r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</a:rPr>
              <a:t>   ·   Supervisors: Jens Dietrich, Stuart Marshall</a:t>
            </a:r>
            <a:endParaRPr lang="en-US" sz="2800" dirty="0"/>
          </a:p>
        </p:txBody>
      </p:sp>
      <p:sp>
        <p:nvSpPr>
          <p:cNvPr id="7" name="chip-4"/>
          <p:cNvSpPr/>
          <p:nvPr/>
        </p:nvSpPr>
        <p:spPr>
          <a:xfrm>
            <a:off x="1080000" y="5148000"/>
            <a:ext cx="1563840" cy="3960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Escooter</a:t>
            </a:r>
            <a:endParaRPr lang="en-US" sz="2200" dirty="0"/>
          </a:p>
        </p:txBody>
      </p:sp>
      <p:sp>
        <p:nvSpPr>
          <p:cNvPr id="8" name="chip-5"/>
          <p:cNvSpPr/>
          <p:nvPr/>
        </p:nvSpPr>
        <p:spPr>
          <a:xfrm>
            <a:off x="2787840" y="5148000"/>
            <a:ext cx="811440" cy="396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Bus</a:t>
            </a:r>
            <a:endParaRPr lang="en-US" sz="2200" dirty="0"/>
          </a:p>
        </p:txBody>
      </p:sp>
      <p:sp>
        <p:nvSpPr>
          <p:cNvPr id="9" name="chip-6"/>
          <p:cNvSpPr/>
          <p:nvPr/>
        </p:nvSpPr>
        <p:spPr>
          <a:xfrm>
            <a:off x="3743280" y="5148000"/>
            <a:ext cx="1112400" cy="396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Train</a:t>
            </a:r>
            <a:endParaRPr lang="en-US" sz="2200" dirty="0"/>
          </a:p>
        </p:txBody>
      </p:sp>
      <p:sp>
        <p:nvSpPr>
          <p:cNvPr id="10" name="chip-7"/>
          <p:cNvSpPr/>
          <p:nvPr/>
        </p:nvSpPr>
        <p:spPr>
          <a:xfrm>
            <a:off x="4999680" y="5148000"/>
            <a:ext cx="1112400" cy="396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Ferry</a:t>
            </a:r>
            <a:endParaRPr lang="en-US" sz="2200" dirty="0"/>
          </a:p>
        </p:txBody>
      </p:sp>
      <p:sp>
        <p:nvSpPr>
          <p:cNvPr id="11" name="chip-8"/>
          <p:cNvSpPr/>
          <p:nvPr/>
        </p:nvSpPr>
        <p:spPr>
          <a:xfrm>
            <a:off x="6256080" y="5148000"/>
            <a:ext cx="1714320" cy="3960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Invisible</a:t>
            </a:r>
            <a:endParaRPr lang="en-US" sz="2200" dirty="0"/>
          </a:p>
        </p:txBody>
      </p:sp>
      <p:sp>
        <p:nvSpPr>
          <p:cNvPr id="12" name="chip-9"/>
          <p:cNvSpPr/>
          <p:nvPr/>
        </p:nvSpPr>
        <p:spPr>
          <a:xfrm>
            <a:off x="8114400" y="5148000"/>
            <a:ext cx="1262880" cy="396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Double</a:t>
            </a:r>
            <a:endParaRPr lang="en-US" sz="2200" dirty="0"/>
          </a:p>
        </p:txBody>
      </p:sp>
      <p:sp>
        <p:nvSpPr>
          <p:cNvPr id="13" name="text-10"/>
          <p:cNvSpPr txBox="1"/>
          <p:nvPr/>
        </p:nvSpPr>
        <p:spPr>
          <a:xfrm>
            <a:off x="1080000" y="6156000"/>
            <a:ext cx="720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chemeClr val="accent1"/>
                </a:solidFill>
              </a:rPr>
              <a:t>KEY FINDINGS</a:t>
            </a:r>
            <a:endParaRPr lang="en-US" sz="2600" dirty="0"/>
          </a:p>
        </p:txBody>
      </p:sp>
      <p:sp>
        <p:nvSpPr>
          <p:cNvPr id="14" name="shape-11"/>
          <p:cNvSpPr/>
          <p:nvPr/>
        </p:nvSpPr>
        <p:spPr>
          <a:xfrm>
            <a:off x="1080000" y="6588000"/>
            <a:ext cx="6192000" cy="230400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pic>
        <p:nvPicPr>
          <p:cNvPr id="15" name="icon-12" descr="/mnt/other/UniFiles/400-level-docs/Tri1/ENGR489/Scotland-Yard-NC/documentation/poster/icons/users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8000" y="6876000"/>
            <a:ext cx="396000" cy="396000"/>
          </a:xfrm>
          <a:prstGeom prst="rect">
            <a:avLst/>
          </a:prstGeom>
        </p:spPr>
      </p:pic>
      <p:sp>
        <p:nvSpPr>
          <p:cNvPr id="16" name="text-13"/>
          <p:cNvSpPr txBox="1"/>
          <p:nvPr/>
        </p:nvSpPr>
        <p:spPr>
          <a:xfrm>
            <a:off x="1080000" y="6768000"/>
            <a:ext cx="6192000" cy="93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Day</a:t>
            </a:r>
            <a:endParaRPr lang="en-US" sz="6000" dirty="0"/>
          </a:p>
        </p:txBody>
      </p:sp>
      <p:sp>
        <p:nvSpPr>
          <p:cNvPr id="17" name="text-14"/>
          <p:cNvSpPr txBox="1"/>
          <p:nvPr/>
        </p:nvSpPr>
        <p:spPr>
          <a:xfrm>
            <a:off x="1296000" y="7776000"/>
            <a:ext cx="5760000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played live by visitors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chemeClr val="accent2"/>
                </a:solidFill>
              </a:rPr>
              <a:t>on the stand's laptops</a:t>
            </a:r>
            <a:endParaRPr lang="en-US" sz="2600" dirty="0"/>
          </a:p>
        </p:txBody>
      </p:sp>
      <p:sp>
        <p:nvSpPr>
          <p:cNvPr id="18" name="shape-15"/>
          <p:cNvSpPr/>
          <p:nvPr/>
        </p:nvSpPr>
        <p:spPr>
          <a:xfrm>
            <a:off x="7704000" y="6588000"/>
            <a:ext cx="6192000" cy="230400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pic>
        <p:nvPicPr>
          <p:cNvPr id="19" name="icon-16" descr="/mnt/other/UniFiles/400-level-docs/Tri1/ENGR489/Scotland-Yard-NC/documentation/poster/icons/map-pi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2000" y="6876000"/>
            <a:ext cx="396000" cy="396000"/>
          </a:xfrm>
          <a:prstGeom prst="rect">
            <a:avLst/>
          </a:prstGeom>
        </p:spPr>
      </p:pic>
      <p:sp>
        <p:nvSpPr>
          <p:cNvPr id="20" name="text-17"/>
          <p:cNvSpPr txBox="1"/>
          <p:nvPr/>
        </p:nvSpPr>
        <p:spPr>
          <a:xfrm>
            <a:off x="7704000" y="6768000"/>
            <a:ext cx="6192000" cy="93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 places</a:t>
            </a:r>
            <a:endParaRPr lang="en-US" sz="6000" dirty="0"/>
          </a:p>
        </p:txBody>
      </p:sp>
      <p:sp>
        <p:nvSpPr>
          <p:cNvPr id="21" name="text-18"/>
          <p:cNvSpPr txBox="1"/>
          <p:nvPr/>
        </p:nvSpPr>
        <p:spPr>
          <a:xfrm>
            <a:off x="7920000" y="7776000"/>
            <a:ext cx="5760000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on a real map of Wellington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chemeClr val="accent2"/>
                </a:solidFill>
              </a:rPr>
              <a:t>by bus, train, ferry and e-scooter</a:t>
            </a:r>
            <a:endParaRPr lang="en-US" sz="2600" dirty="0"/>
          </a:p>
        </p:txBody>
      </p:sp>
      <p:sp>
        <p:nvSpPr>
          <p:cNvPr id="22" name="shape-19"/>
          <p:cNvSpPr/>
          <p:nvPr/>
        </p:nvSpPr>
        <p:spPr>
          <a:xfrm>
            <a:off x="14328000" y="6588000"/>
            <a:ext cx="6192000" cy="230400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pic>
        <p:nvPicPr>
          <p:cNvPr id="23" name="icon-20" descr="/mnt/other/UniFiles/400-level-docs/Tri1/ENGR489/Scotland-Yard-NC/documentation/poster/icons/monitor-smartphone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16000" y="6876000"/>
            <a:ext cx="396000" cy="396000"/>
          </a:xfrm>
          <a:prstGeom prst="rect">
            <a:avLst/>
          </a:prstGeom>
        </p:spPr>
      </p:pic>
      <p:sp>
        <p:nvSpPr>
          <p:cNvPr id="24" name="text-21"/>
          <p:cNvSpPr txBox="1"/>
          <p:nvPr/>
        </p:nvSpPr>
        <p:spPr>
          <a:xfrm>
            <a:off x="14328000" y="6768000"/>
            <a:ext cx="6192000" cy="93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install</a:t>
            </a:r>
            <a:endParaRPr lang="en-US" sz="6000" dirty="0"/>
          </a:p>
        </p:txBody>
      </p:sp>
      <p:sp>
        <p:nvSpPr>
          <p:cNvPr id="25" name="text-22"/>
          <p:cNvSpPr txBox="1"/>
          <p:nvPr/>
        </p:nvSpPr>
        <p:spPr>
          <a:xfrm>
            <a:off x="14544000" y="7776000"/>
            <a:ext cx="5760000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join from a web browser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chemeClr val="accent2"/>
                </a:solidFill>
              </a:rPr>
              <a:t>with a link or a six-letter code</a:t>
            </a:r>
            <a:endParaRPr lang="en-US" sz="2600" dirty="0"/>
          </a:p>
        </p:txBody>
      </p:sp>
      <p:sp>
        <p:nvSpPr>
          <p:cNvPr id="26" name="shape-23"/>
          <p:cNvSpPr/>
          <p:nvPr/>
        </p:nvSpPr>
        <p:spPr>
          <a:xfrm>
            <a:off x="1080000" y="9216000"/>
            <a:ext cx="9144000" cy="288000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27" name="shape-24"/>
          <p:cNvSpPr/>
          <p:nvPr/>
        </p:nvSpPr>
        <p:spPr>
          <a:xfrm>
            <a:off x="1296000" y="9360000"/>
            <a:ext cx="468000" cy="46800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28" name="icon-25" descr="/mnt/other/UniFiles/400-level-docs/Tri1/ENGR489/Scotland-Yard-NC/documentation/poster/icons/target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86000" y="9450000"/>
            <a:ext cx="288000" cy="288000"/>
          </a:xfrm>
          <a:prstGeom prst="rect">
            <a:avLst/>
          </a:prstGeom>
        </p:spPr>
      </p:pic>
      <p:sp>
        <p:nvSpPr>
          <p:cNvPr id="29" name="text-26"/>
          <p:cNvSpPr txBox="1"/>
          <p:nvPr/>
        </p:nvSpPr>
        <p:spPr>
          <a:xfrm>
            <a:off x="1908000" y="9324000"/>
            <a:ext cx="8064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OPEN DAY?</a:t>
            </a:r>
            <a:endParaRPr lang="en-US" sz="4000" dirty="0"/>
          </a:p>
        </p:txBody>
      </p:sp>
      <p:sp>
        <p:nvSpPr>
          <p:cNvPr id="30" name="rule-27"/>
          <p:cNvSpPr/>
          <p:nvPr/>
        </p:nvSpPr>
        <p:spPr>
          <a:xfrm>
            <a:off x="1080000" y="9972000"/>
            <a:ext cx="91440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1" name="text-28"/>
          <p:cNvSpPr txBox="1"/>
          <p:nvPr/>
        </p:nvSpPr>
        <p:spPr>
          <a:xfrm>
            <a:off x="1368000" y="10152000"/>
            <a:ext cx="8568000" cy="172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The old software demo was over five years old</a:t>
            </a:r>
            <a:endParaRPr lang="en-US" sz="26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Visitors need something to try in a few minutes</a:t>
            </a:r>
            <a:endParaRPr lang="en-US" sz="26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A game set in their own city starts conversations</a:t>
            </a:r>
            <a:endParaRPr lang="en-US" sz="2600" dirty="0"/>
          </a:p>
        </p:txBody>
      </p:sp>
      <p:sp>
        <p:nvSpPr>
          <p:cNvPr id="32" name="shape-29"/>
          <p:cNvSpPr/>
          <p:nvPr/>
        </p:nvSpPr>
        <p:spPr>
          <a:xfrm>
            <a:off x="10656000" y="9216000"/>
            <a:ext cx="9864000" cy="288000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33" name="shape-30"/>
          <p:cNvSpPr/>
          <p:nvPr/>
        </p:nvSpPr>
        <p:spPr>
          <a:xfrm>
            <a:off x="10872000" y="9360000"/>
            <a:ext cx="468000" cy="46800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34" name="icon-31" descr="/mnt/other/UniFiles/400-level-docs/Tri1/ENGR489/Scotland-Yard-NC/documentation/poster/icons/gamepad-2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62000" y="9450000"/>
            <a:ext cx="288000" cy="288000"/>
          </a:xfrm>
          <a:prstGeom prst="rect">
            <a:avLst/>
          </a:prstGeom>
        </p:spPr>
      </p:pic>
      <p:sp>
        <p:nvSpPr>
          <p:cNvPr id="35" name="text-32"/>
          <p:cNvSpPr txBox="1"/>
          <p:nvPr/>
        </p:nvSpPr>
        <p:spPr>
          <a:xfrm>
            <a:off x="11484000" y="9324000"/>
            <a:ext cx="8784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4000" dirty="0"/>
          </a:p>
        </p:txBody>
      </p:sp>
      <p:sp>
        <p:nvSpPr>
          <p:cNvPr id="36" name="rule-33"/>
          <p:cNvSpPr/>
          <p:nvPr/>
        </p:nvSpPr>
        <p:spPr>
          <a:xfrm>
            <a:off x="10656000" y="9972000"/>
            <a:ext cx="98640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7" name="text-34"/>
          <p:cNvSpPr txBox="1"/>
          <p:nvPr/>
        </p:nvSpPr>
        <p:spPr>
          <a:xfrm>
            <a:off x="10944000" y="10152000"/>
            <a:ext cx="9288000" cy="172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One player is Mr X; up to five detectives hunt him</a:t>
            </a:r>
            <a:endParaRPr lang="en-US" sz="26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Everyone travels by bus, train, ferry or e-scooter</a:t>
            </a:r>
            <a:endParaRPr lang="en-US" sz="26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Mr X stays hidden, shown only every few rounds</a:t>
            </a:r>
            <a:endParaRPr lang="en-US" sz="26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Catch him within 24 rounds to win</a:t>
            </a:r>
            <a:endParaRPr lang="en-US" sz="2600" dirty="0"/>
          </a:p>
        </p:txBody>
      </p:sp>
      <p:sp>
        <p:nvSpPr>
          <p:cNvPr id="38" name="shape-35"/>
          <p:cNvSpPr/>
          <p:nvPr/>
        </p:nvSpPr>
        <p:spPr>
          <a:xfrm>
            <a:off x="1080000" y="12456000"/>
            <a:ext cx="19440000" cy="7128000"/>
          </a:xfrm>
          <a:prstGeom prst="roundRect">
            <a:avLst>
              <a:gd name="adj" fmla="val 1515"/>
            </a:avLst>
          </a:prstGeom>
          <a:solidFill>
            <a:schemeClr val="tx1"/>
          </a:solidFill>
          <a:ln/>
        </p:spPr>
      </p:sp>
      <p:sp>
        <p:nvSpPr>
          <p:cNvPr id="39" name="shape-36"/>
          <p:cNvSpPr/>
          <p:nvPr/>
        </p:nvSpPr>
        <p:spPr>
          <a:xfrm>
            <a:off x="1296000" y="12600000"/>
            <a:ext cx="468000" cy="46800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40" name="icon-37" descr="/mnt/other/UniFiles/400-level-docs/Tri1/ENGR489/Scotland-Yard-NC/documentation/poster/icons/eye-off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86000" y="12690000"/>
            <a:ext cx="288000" cy="288000"/>
          </a:xfrm>
          <a:prstGeom prst="rect">
            <a:avLst/>
          </a:prstGeom>
        </p:spPr>
      </p:pic>
      <p:sp>
        <p:nvSpPr>
          <p:cNvPr id="41" name="text-38"/>
          <p:cNvSpPr txBox="1"/>
          <p:nvPr/>
        </p:nvSpPr>
        <p:spPr>
          <a:xfrm>
            <a:off x="1908000" y="12564000"/>
            <a:ext cx="18360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GAME, DIFFERENT SECRETS</a:t>
            </a:r>
            <a:endParaRPr lang="en-US" sz="4000" dirty="0"/>
          </a:p>
        </p:txBody>
      </p:sp>
      <p:sp>
        <p:nvSpPr>
          <p:cNvPr id="42" name="shape-39"/>
          <p:cNvSpPr/>
          <p:nvPr/>
        </p:nvSpPr>
        <p:spPr>
          <a:xfrm>
            <a:off x="1368000" y="13392000"/>
            <a:ext cx="6840000" cy="3600000"/>
          </a:xfrm>
          <a:prstGeom prst="roundRect">
            <a:avLst>
              <a:gd name="adj" fmla="val 3000"/>
            </a:avLst>
          </a:prstGeom>
          <a:solidFill>
            <a:srgbClr val="1F2937"/>
          </a:solidFill>
          <a:ln/>
        </p:spPr>
      </p:sp>
      <p:sp>
        <p:nvSpPr>
          <p:cNvPr id="43" name="chip-40"/>
          <p:cNvSpPr/>
          <p:nvPr/>
        </p:nvSpPr>
        <p:spPr>
          <a:xfrm>
            <a:off x="1656000" y="13644000"/>
            <a:ext cx="1249200" cy="396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Mr. X</a:t>
            </a:r>
            <a:endParaRPr lang="en-US" sz="2600" dirty="0"/>
          </a:p>
        </p:txBody>
      </p:sp>
      <p:sp>
        <p:nvSpPr>
          <p:cNvPr id="44" name="text-41"/>
          <p:cNvSpPr txBox="1"/>
          <p:nvPr/>
        </p:nvSpPr>
        <p:spPr>
          <a:xfrm>
            <a:off x="3049200" y="13608000"/>
            <a:ext cx="48708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sees</a:t>
            </a:r>
            <a:endParaRPr lang="en-US" sz="2800" dirty="0"/>
          </a:p>
        </p:txBody>
      </p:sp>
      <p:sp>
        <p:nvSpPr>
          <p:cNvPr id="45" name="text-42"/>
          <p:cNvSpPr txBox="1"/>
          <p:nvPr/>
        </p:nvSpPr>
        <p:spPr>
          <a:xfrm>
            <a:off x="1656000" y="14256000"/>
            <a:ext cx="288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9CA3AF"/>
                </a:solidFill>
              </a:rPr>
              <a:t>PLAYERS</a:t>
            </a:r>
            <a:endParaRPr lang="en-US" sz="2200" dirty="0"/>
          </a:p>
        </p:txBody>
      </p:sp>
      <p:sp>
        <p:nvSpPr>
          <p:cNvPr id="46" name="shape-43"/>
          <p:cNvSpPr/>
          <p:nvPr/>
        </p:nvSpPr>
        <p:spPr>
          <a:xfrm>
            <a:off x="1512000" y="14616000"/>
            <a:ext cx="6552000" cy="648000"/>
          </a:xfrm>
          <a:prstGeom prst="roundRect">
            <a:avLst>
              <a:gd name="adj" fmla="val 16667"/>
            </a:avLst>
          </a:prstGeom>
          <a:ln w="50800">
            <a:solidFill>
              <a:srgbClr val="F59E0B"/>
            </a:solidFill>
            <a:prstDash val="solid"/>
          </a:ln>
        </p:spPr>
      </p:sp>
      <p:sp>
        <p:nvSpPr>
          <p:cNvPr id="47" name="player-44"/>
          <p:cNvSpPr/>
          <p:nvPr/>
        </p:nvSpPr>
        <p:spPr>
          <a:xfrm>
            <a:off x="1656000" y="14724000"/>
            <a:ext cx="1249200" cy="432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Alice</a:t>
            </a:r>
            <a:endParaRPr lang="en-US" sz="2600" dirty="0"/>
          </a:p>
        </p:txBody>
      </p:sp>
      <p:sp>
        <p:nvSpPr>
          <p:cNvPr id="48" name="text-45"/>
          <p:cNvSpPr txBox="1"/>
          <p:nvPr/>
        </p:nvSpPr>
        <p:spPr>
          <a:xfrm>
            <a:off x="3049200" y="14724000"/>
            <a:ext cx="108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CA3AF"/>
                </a:solidFill>
              </a:rPr>
              <a:t>(you)</a:t>
            </a:r>
            <a:endParaRPr lang="en-US" sz="2400" dirty="0"/>
          </a:p>
        </p:txBody>
      </p:sp>
      <p:sp>
        <p:nvSpPr>
          <p:cNvPr id="49" name="text-46"/>
          <p:cNvSpPr txBox="1"/>
          <p:nvPr/>
        </p:nvSpPr>
        <p:spPr>
          <a:xfrm>
            <a:off x="5400000" y="14652000"/>
            <a:ext cx="252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1</a:t>
            </a:r>
            <a:endParaRPr lang="en-US" sz="3000" dirty="0"/>
          </a:p>
        </p:txBody>
      </p:sp>
      <p:sp>
        <p:nvSpPr>
          <p:cNvPr id="50" name="player-47"/>
          <p:cNvSpPr/>
          <p:nvPr/>
        </p:nvSpPr>
        <p:spPr>
          <a:xfrm>
            <a:off x="1656000" y="15444000"/>
            <a:ext cx="893520" cy="432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Bob</a:t>
            </a:r>
            <a:endParaRPr lang="en-US" sz="2600" dirty="0"/>
          </a:p>
        </p:txBody>
      </p:sp>
      <p:sp>
        <p:nvSpPr>
          <p:cNvPr id="51" name="text-48"/>
          <p:cNvSpPr txBox="1"/>
          <p:nvPr/>
        </p:nvSpPr>
        <p:spPr>
          <a:xfrm>
            <a:off x="5400000" y="15372000"/>
            <a:ext cx="252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241</a:t>
            </a:r>
            <a:endParaRPr lang="en-US" sz="3000" dirty="0"/>
          </a:p>
        </p:txBody>
      </p:sp>
      <p:sp>
        <p:nvSpPr>
          <p:cNvPr id="52" name="player-49"/>
          <p:cNvSpPr/>
          <p:nvPr/>
        </p:nvSpPr>
        <p:spPr>
          <a:xfrm>
            <a:off x="1656000" y="16164000"/>
            <a:ext cx="1249200" cy="4320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Carol</a:t>
            </a:r>
            <a:endParaRPr lang="en-US" sz="2600" dirty="0"/>
          </a:p>
        </p:txBody>
      </p:sp>
      <p:sp>
        <p:nvSpPr>
          <p:cNvPr id="53" name="text-50"/>
          <p:cNvSpPr txBox="1"/>
          <p:nvPr/>
        </p:nvSpPr>
        <p:spPr>
          <a:xfrm>
            <a:off x="5400000" y="16092000"/>
            <a:ext cx="252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149</a:t>
            </a:r>
            <a:endParaRPr lang="en-US" sz="3000" dirty="0"/>
          </a:p>
        </p:txBody>
      </p:sp>
      <p:sp>
        <p:nvSpPr>
          <p:cNvPr id="54" name="text-51"/>
          <p:cNvSpPr txBox="1"/>
          <p:nvPr/>
        </p:nvSpPr>
        <p:spPr>
          <a:xfrm>
            <a:off x="1368000" y="17136000"/>
            <a:ext cx="684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He always knows where he is</a:t>
            </a:r>
            <a:endParaRPr lang="en-US" sz="2600" dirty="0"/>
          </a:p>
        </p:txBody>
      </p:sp>
      <p:sp>
        <p:nvSpPr>
          <p:cNvPr id="55" name="shape-52"/>
          <p:cNvSpPr/>
          <p:nvPr/>
        </p:nvSpPr>
        <p:spPr>
          <a:xfrm>
            <a:off x="13392000" y="13392000"/>
            <a:ext cx="6840000" cy="3600000"/>
          </a:xfrm>
          <a:prstGeom prst="roundRect">
            <a:avLst>
              <a:gd name="adj" fmla="val 3000"/>
            </a:avLst>
          </a:prstGeom>
          <a:solidFill>
            <a:srgbClr val="1F2937"/>
          </a:solidFill>
          <a:ln/>
        </p:spPr>
      </p:sp>
      <p:sp>
        <p:nvSpPr>
          <p:cNvPr id="56" name="chip-53"/>
          <p:cNvSpPr/>
          <p:nvPr/>
        </p:nvSpPr>
        <p:spPr>
          <a:xfrm>
            <a:off x="13680000" y="13644000"/>
            <a:ext cx="1960560" cy="396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Detective</a:t>
            </a:r>
            <a:endParaRPr lang="en-US" sz="2600" dirty="0"/>
          </a:p>
        </p:txBody>
      </p:sp>
      <p:sp>
        <p:nvSpPr>
          <p:cNvPr id="57" name="text-54"/>
          <p:cNvSpPr txBox="1"/>
          <p:nvPr/>
        </p:nvSpPr>
        <p:spPr>
          <a:xfrm>
            <a:off x="15784560" y="13608000"/>
            <a:ext cx="415944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sees</a:t>
            </a:r>
            <a:endParaRPr lang="en-US" sz="2800" dirty="0"/>
          </a:p>
        </p:txBody>
      </p:sp>
      <p:sp>
        <p:nvSpPr>
          <p:cNvPr id="58" name="text-55"/>
          <p:cNvSpPr txBox="1"/>
          <p:nvPr/>
        </p:nvSpPr>
        <p:spPr>
          <a:xfrm>
            <a:off x="13680000" y="14256000"/>
            <a:ext cx="288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9CA3AF"/>
                </a:solidFill>
              </a:rPr>
              <a:t>PLAYERS</a:t>
            </a:r>
            <a:endParaRPr lang="en-US" sz="2200" dirty="0"/>
          </a:p>
        </p:txBody>
      </p:sp>
      <p:sp>
        <p:nvSpPr>
          <p:cNvPr id="59" name="shape-56"/>
          <p:cNvSpPr/>
          <p:nvPr/>
        </p:nvSpPr>
        <p:spPr>
          <a:xfrm>
            <a:off x="13536000" y="14616000"/>
            <a:ext cx="6552000" cy="648000"/>
          </a:xfrm>
          <a:prstGeom prst="roundRect">
            <a:avLst>
              <a:gd name="adj" fmla="val 16667"/>
            </a:avLst>
          </a:prstGeom>
          <a:ln w="50800">
            <a:solidFill>
              <a:srgbClr val="F59E0B"/>
            </a:solidFill>
            <a:prstDash val="solid"/>
          </a:ln>
        </p:spPr>
      </p:sp>
      <p:sp>
        <p:nvSpPr>
          <p:cNvPr id="60" name="player-57"/>
          <p:cNvSpPr/>
          <p:nvPr/>
        </p:nvSpPr>
        <p:spPr>
          <a:xfrm>
            <a:off x="13680000" y="14724000"/>
            <a:ext cx="1249200" cy="432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Alice</a:t>
            </a:r>
            <a:endParaRPr lang="en-US" sz="2600" dirty="0"/>
          </a:p>
        </p:txBody>
      </p:sp>
      <p:sp>
        <p:nvSpPr>
          <p:cNvPr id="61" name="text-58"/>
          <p:cNvSpPr txBox="1"/>
          <p:nvPr/>
        </p:nvSpPr>
        <p:spPr>
          <a:xfrm>
            <a:off x="17424000" y="14652000"/>
            <a:ext cx="252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4800" dirty="0"/>
          </a:p>
        </p:txBody>
      </p:sp>
      <p:sp>
        <p:nvSpPr>
          <p:cNvPr id="62" name="player-59"/>
          <p:cNvSpPr/>
          <p:nvPr/>
        </p:nvSpPr>
        <p:spPr>
          <a:xfrm>
            <a:off x="13680000" y="15444000"/>
            <a:ext cx="893520" cy="432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Bob</a:t>
            </a:r>
            <a:endParaRPr lang="en-US" sz="2600" dirty="0"/>
          </a:p>
        </p:txBody>
      </p:sp>
      <p:sp>
        <p:nvSpPr>
          <p:cNvPr id="63" name="text-60"/>
          <p:cNvSpPr txBox="1"/>
          <p:nvPr/>
        </p:nvSpPr>
        <p:spPr>
          <a:xfrm>
            <a:off x="14717520" y="15444000"/>
            <a:ext cx="108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CA3AF"/>
                </a:solidFill>
              </a:rPr>
              <a:t>(you)</a:t>
            </a:r>
            <a:endParaRPr lang="en-US" sz="2400" dirty="0"/>
          </a:p>
        </p:txBody>
      </p:sp>
      <p:sp>
        <p:nvSpPr>
          <p:cNvPr id="64" name="text-61"/>
          <p:cNvSpPr txBox="1"/>
          <p:nvPr/>
        </p:nvSpPr>
        <p:spPr>
          <a:xfrm>
            <a:off x="17424000" y="15372000"/>
            <a:ext cx="252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241</a:t>
            </a:r>
            <a:endParaRPr lang="en-US" sz="3000" dirty="0"/>
          </a:p>
        </p:txBody>
      </p:sp>
      <p:sp>
        <p:nvSpPr>
          <p:cNvPr id="65" name="player-62"/>
          <p:cNvSpPr/>
          <p:nvPr/>
        </p:nvSpPr>
        <p:spPr>
          <a:xfrm>
            <a:off x="13680000" y="16164000"/>
            <a:ext cx="1249200" cy="4320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Carol</a:t>
            </a:r>
            <a:endParaRPr lang="en-US" sz="2600" dirty="0"/>
          </a:p>
        </p:txBody>
      </p:sp>
      <p:sp>
        <p:nvSpPr>
          <p:cNvPr id="66" name="text-63"/>
          <p:cNvSpPr txBox="1"/>
          <p:nvPr/>
        </p:nvSpPr>
        <p:spPr>
          <a:xfrm>
            <a:off x="17424000" y="16092000"/>
            <a:ext cx="252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149</a:t>
            </a:r>
            <a:endParaRPr lang="en-US" sz="3000" dirty="0"/>
          </a:p>
        </p:txBody>
      </p:sp>
      <p:sp>
        <p:nvSpPr>
          <p:cNvPr id="67" name="text-64"/>
          <p:cNvSpPr txBox="1"/>
          <p:nvPr/>
        </p:nvSpPr>
        <p:spPr>
          <a:xfrm>
            <a:off x="13392000" y="17136000"/>
            <a:ext cx="684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They see only a “?”</a:t>
            </a:r>
            <a:endParaRPr lang="en-US" sz="2600" dirty="0"/>
          </a:p>
        </p:txBody>
      </p:sp>
      <p:sp>
        <p:nvSpPr>
          <p:cNvPr id="68" name="icon-circle-65"/>
          <p:cNvSpPr/>
          <p:nvPr/>
        </p:nvSpPr>
        <p:spPr>
          <a:xfrm>
            <a:off x="10080000" y="13752000"/>
            <a:ext cx="1440000" cy="1440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9" name="icon-66" descr="/mnt/other/UniFiles/400-level-docs/Tri1/ENGR489/Scotland-Yard-NC/documentation/poster/icons/server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96800" y="14068800"/>
            <a:ext cx="806400" cy="806400"/>
          </a:xfrm>
          <a:prstGeom prst="rect">
            <a:avLst/>
          </a:prstGeom>
        </p:spPr>
      </p:pic>
      <p:sp>
        <p:nvSpPr>
          <p:cNvPr id="70" name="text-67"/>
          <p:cNvSpPr txBox="1"/>
          <p:nvPr/>
        </p:nvSpPr>
        <p:spPr>
          <a:xfrm>
            <a:off x="8640000" y="15336000"/>
            <a:ext cx="432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Game server</a:t>
            </a:r>
            <a:endParaRPr lang="en-US" sz="3000" dirty="0"/>
          </a:p>
        </p:txBody>
      </p:sp>
      <p:sp>
        <p:nvSpPr>
          <p:cNvPr id="71" name="text-68"/>
          <p:cNvSpPr txBox="1"/>
          <p:nvPr/>
        </p:nvSpPr>
        <p:spPr>
          <a:xfrm>
            <a:off x="8640000" y="15840000"/>
            <a:ext cx="4320000" cy="93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sends each player only what they are allowed to see</a:t>
            </a:r>
            <a:endParaRPr lang="en-US" sz="2400" dirty="0"/>
          </a:p>
        </p:txBody>
      </p:sp>
      <p:sp>
        <p:nvSpPr>
          <p:cNvPr id="72" name="arrow-mrx"/>
          <p:cNvSpPr/>
          <p:nvPr/>
        </p:nvSpPr>
        <p:spPr>
          <a:xfrm>
            <a:off x="8352000" y="14472000"/>
            <a:ext cx="1584000" cy="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73" name="arrow-detective"/>
          <p:cNvSpPr/>
          <p:nvPr/>
        </p:nvSpPr>
        <p:spPr>
          <a:xfrm>
            <a:off x="11664000" y="14472000"/>
            <a:ext cx="1584000" cy="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4" name="round-69"/>
          <p:cNvSpPr/>
          <p:nvPr/>
        </p:nvSpPr>
        <p:spPr>
          <a:xfrm>
            <a:off x="1455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1</a:t>
            </a:r>
            <a:endParaRPr lang="en-US" sz="2000" dirty="0"/>
          </a:p>
        </p:txBody>
      </p:sp>
      <p:sp>
        <p:nvSpPr>
          <p:cNvPr id="75" name="round-70"/>
          <p:cNvSpPr/>
          <p:nvPr/>
        </p:nvSpPr>
        <p:spPr>
          <a:xfrm>
            <a:off x="2241000" y="18000000"/>
            <a:ext cx="612000" cy="61200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76" name="round-71"/>
          <p:cNvSpPr/>
          <p:nvPr/>
        </p:nvSpPr>
        <p:spPr>
          <a:xfrm>
            <a:off x="3027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3</a:t>
            </a:r>
            <a:endParaRPr lang="en-US" sz="2000" dirty="0"/>
          </a:p>
        </p:txBody>
      </p:sp>
      <p:sp>
        <p:nvSpPr>
          <p:cNvPr id="77" name="round-72"/>
          <p:cNvSpPr/>
          <p:nvPr/>
        </p:nvSpPr>
        <p:spPr>
          <a:xfrm>
            <a:off x="3813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4</a:t>
            </a:r>
            <a:endParaRPr lang="en-US" sz="2000" dirty="0"/>
          </a:p>
        </p:txBody>
      </p:sp>
      <p:sp>
        <p:nvSpPr>
          <p:cNvPr id="78" name="round-73"/>
          <p:cNvSpPr/>
          <p:nvPr/>
        </p:nvSpPr>
        <p:spPr>
          <a:xfrm>
            <a:off x="4599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5</a:t>
            </a:r>
            <a:endParaRPr lang="en-US" sz="2000" dirty="0"/>
          </a:p>
        </p:txBody>
      </p:sp>
      <p:sp>
        <p:nvSpPr>
          <p:cNvPr id="79" name="round-74"/>
          <p:cNvSpPr/>
          <p:nvPr/>
        </p:nvSpPr>
        <p:spPr>
          <a:xfrm>
            <a:off x="5385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6</a:t>
            </a:r>
            <a:endParaRPr lang="en-US" sz="2000" dirty="0"/>
          </a:p>
        </p:txBody>
      </p:sp>
      <p:sp>
        <p:nvSpPr>
          <p:cNvPr id="80" name="round-75"/>
          <p:cNvSpPr/>
          <p:nvPr/>
        </p:nvSpPr>
        <p:spPr>
          <a:xfrm>
            <a:off x="6171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7</a:t>
            </a:r>
            <a:endParaRPr lang="en-US" sz="2000" dirty="0"/>
          </a:p>
        </p:txBody>
      </p:sp>
      <p:sp>
        <p:nvSpPr>
          <p:cNvPr id="81" name="round-76"/>
          <p:cNvSpPr/>
          <p:nvPr/>
        </p:nvSpPr>
        <p:spPr>
          <a:xfrm>
            <a:off x="6957000" y="18000000"/>
            <a:ext cx="612000" cy="61200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8</a:t>
            </a:r>
            <a:endParaRPr lang="en-US" sz="2400" dirty="0"/>
          </a:p>
        </p:txBody>
      </p:sp>
      <p:sp>
        <p:nvSpPr>
          <p:cNvPr id="82" name="round-77"/>
          <p:cNvSpPr/>
          <p:nvPr/>
        </p:nvSpPr>
        <p:spPr>
          <a:xfrm>
            <a:off x="7743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9</a:t>
            </a:r>
            <a:endParaRPr lang="en-US" sz="2000" dirty="0"/>
          </a:p>
        </p:txBody>
      </p:sp>
      <p:sp>
        <p:nvSpPr>
          <p:cNvPr id="83" name="round-78"/>
          <p:cNvSpPr/>
          <p:nvPr/>
        </p:nvSpPr>
        <p:spPr>
          <a:xfrm>
            <a:off x="8529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10</a:t>
            </a:r>
            <a:endParaRPr lang="en-US" sz="2000" dirty="0"/>
          </a:p>
        </p:txBody>
      </p:sp>
      <p:sp>
        <p:nvSpPr>
          <p:cNvPr id="84" name="round-79"/>
          <p:cNvSpPr/>
          <p:nvPr/>
        </p:nvSpPr>
        <p:spPr>
          <a:xfrm>
            <a:off x="9315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11</a:t>
            </a:r>
            <a:endParaRPr lang="en-US" sz="2000" dirty="0"/>
          </a:p>
        </p:txBody>
      </p:sp>
      <p:sp>
        <p:nvSpPr>
          <p:cNvPr id="85" name="round-80"/>
          <p:cNvSpPr/>
          <p:nvPr/>
        </p:nvSpPr>
        <p:spPr>
          <a:xfrm>
            <a:off x="10101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12</a:t>
            </a:r>
            <a:endParaRPr lang="en-US" sz="2000" dirty="0"/>
          </a:p>
        </p:txBody>
      </p:sp>
      <p:sp>
        <p:nvSpPr>
          <p:cNvPr id="86" name="round-81"/>
          <p:cNvSpPr/>
          <p:nvPr/>
        </p:nvSpPr>
        <p:spPr>
          <a:xfrm>
            <a:off x="10887000" y="18000000"/>
            <a:ext cx="612000" cy="61200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13</a:t>
            </a:r>
            <a:endParaRPr lang="en-US" sz="2400" dirty="0"/>
          </a:p>
        </p:txBody>
      </p:sp>
      <p:sp>
        <p:nvSpPr>
          <p:cNvPr id="87" name="round-82"/>
          <p:cNvSpPr/>
          <p:nvPr/>
        </p:nvSpPr>
        <p:spPr>
          <a:xfrm>
            <a:off x="11673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14</a:t>
            </a:r>
            <a:endParaRPr lang="en-US" sz="2000" dirty="0"/>
          </a:p>
        </p:txBody>
      </p:sp>
      <p:sp>
        <p:nvSpPr>
          <p:cNvPr id="88" name="round-83"/>
          <p:cNvSpPr/>
          <p:nvPr/>
        </p:nvSpPr>
        <p:spPr>
          <a:xfrm>
            <a:off x="12459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15</a:t>
            </a:r>
            <a:endParaRPr lang="en-US" sz="2000" dirty="0"/>
          </a:p>
        </p:txBody>
      </p:sp>
      <p:sp>
        <p:nvSpPr>
          <p:cNvPr id="89" name="round-84"/>
          <p:cNvSpPr/>
          <p:nvPr/>
        </p:nvSpPr>
        <p:spPr>
          <a:xfrm>
            <a:off x="13245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16</a:t>
            </a:r>
            <a:endParaRPr lang="en-US" sz="2000" dirty="0"/>
          </a:p>
        </p:txBody>
      </p:sp>
      <p:sp>
        <p:nvSpPr>
          <p:cNvPr id="90" name="round-85"/>
          <p:cNvSpPr/>
          <p:nvPr/>
        </p:nvSpPr>
        <p:spPr>
          <a:xfrm>
            <a:off x="14031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17</a:t>
            </a:r>
            <a:endParaRPr lang="en-US" sz="2000" dirty="0"/>
          </a:p>
        </p:txBody>
      </p:sp>
      <p:sp>
        <p:nvSpPr>
          <p:cNvPr id="91" name="round-86"/>
          <p:cNvSpPr/>
          <p:nvPr/>
        </p:nvSpPr>
        <p:spPr>
          <a:xfrm>
            <a:off x="14817000" y="18000000"/>
            <a:ext cx="612000" cy="61200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18</a:t>
            </a:r>
            <a:endParaRPr lang="en-US" sz="2400" dirty="0"/>
          </a:p>
        </p:txBody>
      </p:sp>
      <p:sp>
        <p:nvSpPr>
          <p:cNvPr id="92" name="round-87"/>
          <p:cNvSpPr/>
          <p:nvPr/>
        </p:nvSpPr>
        <p:spPr>
          <a:xfrm>
            <a:off x="15603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19</a:t>
            </a:r>
            <a:endParaRPr lang="en-US" sz="2000" dirty="0"/>
          </a:p>
        </p:txBody>
      </p:sp>
      <p:sp>
        <p:nvSpPr>
          <p:cNvPr id="93" name="round-88"/>
          <p:cNvSpPr/>
          <p:nvPr/>
        </p:nvSpPr>
        <p:spPr>
          <a:xfrm>
            <a:off x="16389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20</a:t>
            </a:r>
            <a:endParaRPr lang="en-US" sz="2000" dirty="0"/>
          </a:p>
        </p:txBody>
      </p:sp>
      <p:sp>
        <p:nvSpPr>
          <p:cNvPr id="94" name="round-89"/>
          <p:cNvSpPr/>
          <p:nvPr/>
        </p:nvSpPr>
        <p:spPr>
          <a:xfrm>
            <a:off x="17175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21</a:t>
            </a:r>
            <a:endParaRPr lang="en-US" sz="2000" dirty="0"/>
          </a:p>
        </p:txBody>
      </p:sp>
      <p:sp>
        <p:nvSpPr>
          <p:cNvPr id="95" name="round-90"/>
          <p:cNvSpPr/>
          <p:nvPr/>
        </p:nvSpPr>
        <p:spPr>
          <a:xfrm>
            <a:off x="17961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22</a:t>
            </a:r>
            <a:endParaRPr lang="en-US" sz="2000" dirty="0"/>
          </a:p>
        </p:txBody>
      </p:sp>
      <p:sp>
        <p:nvSpPr>
          <p:cNvPr id="96" name="round-91"/>
          <p:cNvSpPr/>
          <p:nvPr/>
        </p:nvSpPr>
        <p:spPr>
          <a:xfrm>
            <a:off x="18747000" y="18000000"/>
            <a:ext cx="612000" cy="612000"/>
          </a:xfrm>
          <a:prstGeom prst="ellipse">
            <a:avLst/>
          </a:prstGeom>
          <a:solidFill>
            <a:srgbClr val="374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23</a:t>
            </a:r>
            <a:endParaRPr lang="en-US" sz="2000" dirty="0"/>
          </a:p>
        </p:txBody>
      </p:sp>
      <p:sp>
        <p:nvSpPr>
          <p:cNvPr id="97" name="round-92"/>
          <p:cNvSpPr/>
          <p:nvPr/>
        </p:nvSpPr>
        <p:spPr>
          <a:xfrm>
            <a:off x="19533000" y="18000000"/>
            <a:ext cx="612000" cy="61200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24</a:t>
            </a:r>
            <a:endParaRPr lang="en-US" sz="2400" dirty="0"/>
          </a:p>
        </p:txBody>
      </p:sp>
      <p:sp>
        <p:nvSpPr>
          <p:cNvPr id="98" name="text-93"/>
          <p:cNvSpPr txBox="1"/>
          <p:nvPr/>
        </p:nvSpPr>
        <p:spPr>
          <a:xfrm>
            <a:off x="1368000" y="18756000"/>
            <a:ext cx="18864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24 rounds. </a:t>
            </a:r>
            <a:pPr algn="ctr" indent="0" marL="0">
              <a:buNone/>
            </a:pPr>
            <a:r>
              <a:rPr lang="en-US" sz="2600" dirty="0">
                <a:solidFill>
                  <a:schemeClr val="accent2"/>
                </a:solidFill>
              </a:rPr>
              <a:t>Mr X is revealed only in the amber rounds; the rest of the time he is a “?”.</a:t>
            </a:r>
            <a:endParaRPr lang="en-US" sz="2600" dirty="0"/>
          </a:p>
        </p:txBody>
      </p:sp>
      <p:sp>
        <p:nvSpPr>
          <p:cNvPr id="99" name="shape-94"/>
          <p:cNvSpPr/>
          <p:nvPr/>
        </p:nvSpPr>
        <p:spPr>
          <a:xfrm>
            <a:off x="1080000" y="19944000"/>
            <a:ext cx="19440000" cy="4032000"/>
          </a:xfrm>
          <a:prstGeom prst="roundRect">
            <a:avLst>
              <a:gd name="adj" fmla="val 2679"/>
            </a:avLst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00" name="shape-95"/>
          <p:cNvSpPr/>
          <p:nvPr/>
        </p:nvSpPr>
        <p:spPr>
          <a:xfrm>
            <a:off x="1080000" y="19944000"/>
            <a:ext cx="19440000" cy="648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01" name="shape-96"/>
          <p:cNvSpPr/>
          <p:nvPr/>
        </p:nvSpPr>
        <p:spPr>
          <a:xfrm>
            <a:off x="1080000" y="20268000"/>
            <a:ext cx="19440000" cy="324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02" name="icon-97" descr="/mnt/other/UniFiles/400-level-docs/Tri1/ENGR489/Scotland-Yard-NC/documentation/poster/icons/shield-check.sv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32000" y="20088000"/>
            <a:ext cx="360000" cy="360000"/>
          </a:xfrm>
          <a:prstGeom prst="rect">
            <a:avLst/>
          </a:prstGeom>
        </p:spPr>
      </p:pic>
      <p:sp>
        <p:nvSpPr>
          <p:cNvPr id="103" name="text-98"/>
          <p:cNvSpPr txBox="1"/>
          <p:nvPr/>
        </p:nvSpPr>
        <p:spPr>
          <a:xfrm>
            <a:off x="1872000" y="20016000"/>
            <a:ext cx="18360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CHALLENGES</a:t>
            </a:r>
            <a:endParaRPr lang="en-US" sz="4000" dirty="0"/>
          </a:p>
        </p:txBody>
      </p:sp>
      <p:sp>
        <p:nvSpPr>
          <p:cNvPr id="104" name="shape-99"/>
          <p:cNvSpPr/>
          <p:nvPr/>
        </p:nvSpPr>
        <p:spPr>
          <a:xfrm>
            <a:off x="1368000" y="20808000"/>
            <a:ext cx="4446000" cy="29520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105" name="icon-circle-100"/>
          <p:cNvSpPr/>
          <p:nvPr/>
        </p:nvSpPr>
        <p:spPr>
          <a:xfrm>
            <a:off x="1548000" y="20988000"/>
            <a:ext cx="576000" cy="5760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06" name="icon-101" descr="/mnt/other/UniFiles/400-level-docs/Tri1/ENGR489/Scotland-Yard-NC/documentation/poster/icons/lock.sv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74720" y="21114720"/>
            <a:ext cx="322560" cy="322560"/>
          </a:xfrm>
          <a:prstGeom prst="rect">
            <a:avLst/>
          </a:prstGeom>
        </p:spPr>
      </p:pic>
      <p:sp>
        <p:nvSpPr>
          <p:cNvPr id="107" name="text-102"/>
          <p:cNvSpPr txBox="1"/>
          <p:nvPr/>
        </p:nvSpPr>
        <p:spPr>
          <a:xfrm>
            <a:off x="2268000" y="20988000"/>
            <a:ext cx="3438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A SECRET</a:t>
            </a:r>
            <a:endParaRPr lang="en-US" sz="2600" dirty="0"/>
          </a:p>
        </p:txBody>
      </p:sp>
      <p:sp>
        <p:nvSpPr>
          <p:cNvPr id="108" name="text-103"/>
          <p:cNvSpPr txBox="1"/>
          <p:nvPr/>
        </p:nvSpPr>
        <p:spPr>
          <a:xfrm>
            <a:off x="1548000" y="21744000"/>
            <a:ext cx="4086000" cy="19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tx1"/>
                </a:solidFill>
              </a:rPr>
              <a:t>Each player is sent their own view, so Mr X's position never reaches a detective's screen.</a:t>
            </a:r>
            <a:endParaRPr lang="en-US" sz="2700" dirty="0"/>
          </a:p>
        </p:txBody>
      </p:sp>
      <p:sp>
        <p:nvSpPr>
          <p:cNvPr id="109" name="shape-104"/>
          <p:cNvSpPr/>
          <p:nvPr/>
        </p:nvSpPr>
        <p:spPr>
          <a:xfrm>
            <a:off x="6174000" y="20808000"/>
            <a:ext cx="4446000" cy="29520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110" name="icon-circle-105"/>
          <p:cNvSpPr/>
          <p:nvPr/>
        </p:nvSpPr>
        <p:spPr>
          <a:xfrm>
            <a:off x="6354000" y="20988000"/>
            <a:ext cx="576000" cy="57600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11" name="icon-106" descr="/mnt/other/UniFiles/400-level-docs/Tri1/ENGR489/Scotland-Yard-NC/documentation/poster/icons/refresh-cw.sv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80720" y="21114720"/>
            <a:ext cx="322560" cy="322560"/>
          </a:xfrm>
          <a:prstGeom prst="rect">
            <a:avLst/>
          </a:prstGeom>
        </p:spPr>
      </p:pic>
      <p:sp>
        <p:nvSpPr>
          <p:cNvPr id="112" name="text-107"/>
          <p:cNvSpPr txBox="1"/>
          <p:nvPr/>
        </p:nvSpPr>
        <p:spPr>
          <a:xfrm>
            <a:off x="7074000" y="20988000"/>
            <a:ext cx="3438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STAYING IN SYNC</a:t>
            </a:r>
            <a:endParaRPr lang="en-US" sz="2600" dirty="0"/>
          </a:p>
        </p:txBody>
      </p:sp>
      <p:sp>
        <p:nvSpPr>
          <p:cNvPr id="113" name="text-108"/>
          <p:cNvSpPr txBox="1"/>
          <p:nvPr/>
        </p:nvSpPr>
        <p:spPr>
          <a:xfrm>
            <a:off x="6354000" y="21744000"/>
            <a:ext cx="4086000" cy="19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tx1"/>
                </a:solidFill>
              </a:rPr>
              <a:t>Every move is pushed live to every screen. A dropped connection catches up by itself.</a:t>
            </a:r>
            <a:endParaRPr lang="en-US" sz="2700" dirty="0"/>
          </a:p>
        </p:txBody>
      </p:sp>
      <p:sp>
        <p:nvSpPr>
          <p:cNvPr id="114" name="shape-109"/>
          <p:cNvSpPr/>
          <p:nvPr/>
        </p:nvSpPr>
        <p:spPr>
          <a:xfrm>
            <a:off x="10980000" y="20808000"/>
            <a:ext cx="4446000" cy="29520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115" name="icon-circle-110"/>
          <p:cNvSpPr/>
          <p:nvPr/>
        </p:nvSpPr>
        <p:spPr>
          <a:xfrm>
            <a:off x="11160000" y="20988000"/>
            <a:ext cx="576000" cy="5760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16" name="icon-111" descr="/mnt/other/UniFiles/400-level-docs/Tri1/ENGR489/Scotland-Yard-NC/documentation/poster/icons/map.sv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286720" y="21114720"/>
            <a:ext cx="322560" cy="322560"/>
          </a:xfrm>
          <a:prstGeom prst="rect">
            <a:avLst/>
          </a:prstGeom>
        </p:spPr>
      </p:pic>
      <p:sp>
        <p:nvSpPr>
          <p:cNvPr id="117" name="text-112"/>
          <p:cNvSpPr txBox="1"/>
          <p:nvPr/>
        </p:nvSpPr>
        <p:spPr>
          <a:xfrm>
            <a:off x="11880000" y="20988000"/>
            <a:ext cx="3438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REAL MAP</a:t>
            </a:r>
            <a:endParaRPr lang="en-US" sz="2600" dirty="0"/>
          </a:p>
        </p:txBody>
      </p:sp>
      <p:sp>
        <p:nvSpPr>
          <p:cNvPr id="118" name="text-113"/>
          <p:cNvSpPr txBox="1"/>
          <p:nvPr/>
        </p:nvSpPr>
        <p:spPr>
          <a:xfrm>
            <a:off x="11160000" y="21744000"/>
            <a:ext cx="4086000" cy="19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tx1"/>
                </a:solidFill>
              </a:rPr>
              <a:t>Routes along real roads are worked out once, not paid for on every move.</a:t>
            </a:r>
            <a:endParaRPr lang="en-US" sz="2700" dirty="0"/>
          </a:p>
        </p:txBody>
      </p:sp>
      <p:sp>
        <p:nvSpPr>
          <p:cNvPr id="119" name="shape-114"/>
          <p:cNvSpPr/>
          <p:nvPr/>
        </p:nvSpPr>
        <p:spPr>
          <a:xfrm>
            <a:off x="15786000" y="20808000"/>
            <a:ext cx="4446000" cy="29520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120" name="icon-circle-115"/>
          <p:cNvSpPr/>
          <p:nvPr/>
        </p:nvSpPr>
        <p:spPr>
          <a:xfrm>
            <a:off x="15966000" y="20988000"/>
            <a:ext cx="576000" cy="5760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21" name="icon-116" descr="/mnt/other/UniFiles/400-level-docs/Tri1/ENGR489/Scotland-Yard-NC/documentation/poster/icons/shield-check.sv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092720" y="21114720"/>
            <a:ext cx="322560" cy="322560"/>
          </a:xfrm>
          <a:prstGeom prst="rect">
            <a:avLst/>
          </a:prstGeom>
        </p:spPr>
      </p:pic>
      <p:sp>
        <p:nvSpPr>
          <p:cNvPr id="122" name="text-117"/>
          <p:cNvSpPr txBox="1"/>
          <p:nvPr/>
        </p:nvSpPr>
        <p:spPr>
          <a:xfrm>
            <a:off x="16686000" y="20988000"/>
            <a:ext cx="3438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PROVING IT WORKS</a:t>
            </a:r>
            <a:endParaRPr lang="en-US" sz="2600" dirty="0"/>
          </a:p>
        </p:txBody>
      </p:sp>
      <p:sp>
        <p:nvSpPr>
          <p:cNvPr id="123" name="text-118"/>
          <p:cNvSpPr txBox="1"/>
          <p:nvPr/>
        </p:nvSpPr>
        <p:spPr>
          <a:xfrm>
            <a:off x="15966000" y="21744000"/>
            <a:ext cx="4086000" cy="19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tx1"/>
                </a:solidFill>
              </a:rPr>
              <a:t>135 automated tests, including 300 random games. Every planted bug was caught.</a:t>
            </a:r>
            <a:endParaRPr lang="en-US" sz="2700" dirty="0"/>
          </a:p>
        </p:txBody>
      </p:sp>
      <p:sp>
        <p:nvSpPr>
          <p:cNvPr id="124" name="shape-119"/>
          <p:cNvSpPr/>
          <p:nvPr/>
        </p:nvSpPr>
        <p:spPr>
          <a:xfrm>
            <a:off x="1080000" y="24336000"/>
            <a:ext cx="11592000" cy="4464000"/>
          </a:xfrm>
          <a:prstGeom prst="roundRect">
            <a:avLst>
              <a:gd name="adj" fmla="val 2419"/>
            </a:avLst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25" name="shape-120"/>
          <p:cNvSpPr/>
          <p:nvPr/>
        </p:nvSpPr>
        <p:spPr>
          <a:xfrm>
            <a:off x="1296000" y="24480000"/>
            <a:ext cx="468000" cy="46800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pic>
        <p:nvPicPr>
          <p:cNvPr id="126" name="icon-121" descr="/mnt/other/UniFiles/400-level-docs/Tri1/ENGR489/Scotland-Yard-NC/documentation/poster/icons/layers.sv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86000" y="24570000"/>
            <a:ext cx="288000" cy="288000"/>
          </a:xfrm>
          <a:prstGeom prst="rect">
            <a:avLst/>
          </a:prstGeom>
        </p:spPr>
      </p:pic>
      <p:sp>
        <p:nvSpPr>
          <p:cNvPr id="127" name="text-122"/>
          <p:cNvSpPr txBox="1"/>
          <p:nvPr/>
        </p:nvSpPr>
        <p:spPr>
          <a:xfrm>
            <a:off x="1908000" y="24444000"/>
            <a:ext cx="10512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4000" dirty="0"/>
          </a:p>
        </p:txBody>
      </p:sp>
      <p:sp>
        <p:nvSpPr>
          <p:cNvPr id="128" name="rule-123"/>
          <p:cNvSpPr/>
          <p:nvPr/>
        </p:nvSpPr>
        <p:spPr>
          <a:xfrm>
            <a:off x="1080000" y="25092000"/>
            <a:ext cx="115920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9" name="text-124"/>
          <p:cNvSpPr txBox="1"/>
          <p:nvPr/>
        </p:nvSpPr>
        <p:spPr>
          <a:xfrm>
            <a:off x="1368000" y="25272000"/>
            <a:ext cx="1800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Screens</a:t>
            </a:r>
            <a:endParaRPr lang="en-US" sz="2400" dirty="0"/>
          </a:p>
        </p:txBody>
      </p:sp>
      <p:sp>
        <p:nvSpPr>
          <p:cNvPr id="130" name="chip-125"/>
          <p:cNvSpPr/>
          <p:nvPr/>
        </p:nvSpPr>
        <p:spPr>
          <a:xfrm>
            <a:off x="3168000" y="25272000"/>
            <a:ext cx="111240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Vue 3</a:t>
            </a:r>
            <a:endParaRPr lang="en-US" sz="2200" dirty="0"/>
          </a:p>
        </p:txBody>
      </p:sp>
      <p:sp>
        <p:nvSpPr>
          <p:cNvPr id="131" name="chip-126"/>
          <p:cNvSpPr/>
          <p:nvPr/>
        </p:nvSpPr>
        <p:spPr>
          <a:xfrm>
            <a:off x="4424400" y="25272000"/>
            <a:ext cx="186480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TypeScript</a:t>
            </a:r>
            <a:endParaRPr lang="en-US" sz="2200" dirty="0"/>
          </a:p>
        </p:txBody>
      </p:sp>
      <p:sp>
        <p:nvSpPr>
          <p:cNvPr id="132" name="chip-127"/>
          <p:cNvSpPr/>
          <p:nvPr/>
        </p:nvSpPr>
        <p:spPr>
          <a:xfrm>
            <a:off x="6433200" y="25272000"/>
            <a:ext cx="216576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Tailwind CSS</a:t>
            </a:r>
            <a:endParaRPr lang="en-US" sz="2200" dirty="0"/>
          </a:p>
        </p:txBody>
      </p:sp>
      <p:sp>
        <p:nvSpPr>
          <p:cNvPr id="133" name="text-128"/>
          <p:cNvSpPr txBox="1"/>
          <p:nvPr/>
        </p:nvSpPr>
        <p:spPr>
          <a:xfrm>
            <a:off x="1368000" y="25830000"/>
            <a:ext cx="1800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Map</a:t>
            </a:r>
            <a:endParaRPr lang="en-US" sz="2400" dirty="0"/>
          </a:p>
        </p:txBody>
      </p:sp>
      <p:sp>
        <p:nvSpPr>
          <p:cNvPr id="134" name="chip-129"/>
          <p:cNvSpPr/>
          <p:nvPr/>
        </p:nvSpPr>
        <p:spPr>
          <a:xfrm>
            <a:off x="3168000" y="25830000"/>
            <a:ext cx="201528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MapLibre GL</a:t>
            </a:r>
            <a:endParaRPr lang="en-US" sz="2200" dirty="0"/>
          </a:p>
        </p:txBody>
      </p:sp>
      <p:sp>
        <p:nvSpPr>
          <p:cNvPr id="135" name="chip-130"/>
          <p:cNvSpPr/>
          <p:nvPr/>
        </p:nvSpPr>
        <p:spPr>
          <a:xfrm>
            <a:off x="5327280" y="25830000"/>
            <a:ext cx="231624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OpenStreetMap</a:t>
            </a:r>
            <a:endParaRPr lang="en-US" sz="2200" dirty="0"/>
          </a:p>
        </p:txBody>
      </p:sp>
      <p:sp>
        <p:nvSpPr>
          <p:cNvPr id="136" name="text-131"/>
          <p:cNvSpPr txBox="1"/>
          <p:nvPr/>
        </p:nvSpPr>
        <p:spPr>
          <a:xfrm>
            <a:off x="1368000" y="26388000"/>
            <a:ext cx="1800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Server</a:t>
            </a:r>
            <a:endParaRPr lang="en-US" sz="2400" dirty="0"/>
          </a:p>
        </p:txBody>
      </p:sp>
      <p:sp>
        <p:nvSpPr>
          <p:cNvPr id="137" name="chip-132"/>
          <p:cNvSpPr/>
          <p:nvPr/>
        </p:nvSpPr>
        <p:spPr>
          <a:xfrm>
            <a:off x="3168000" y="26388000"/>
            <a:ext cx="141336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Java 21</a:t>
            </a:r>
            <a:endParaRPr lang="en-US" sz="2200" dirty="0"/>
          </a:p>
        </p:txBody>
      </p:sp>
      <p:sp>
        <p:nvSpPr>
          <p:cNvPr id="138" name="chip-133"/>
          <p:cNvSpPr/>
          <p:nvPr/>
        </p:nvSpPr>
        <p:spPr>
          <a:xfrm>
            <a:off x="4725360" y="26388000"/>
            <a:ext cx="201528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Spring Boot</a:t>
            </a:r>
            <a:endParaRPr lang="en-US" sz="2200" dirty="0"/>
          </a:p>
        </p:txBody>
      </p:sp>
      <p:sp>
        <p:nvSpPr>
          <p:cNvPr id="139" name="text-134"/>
          <p:cNvSpPr txBox="1"/>
          <p:nvPr/>
        </p:nvSpPr>
        <p:spPr>
          <a:xfrm>
            <a:off x="1368000" y="26946000"/>
            <a:ext cx="1800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Live</a:t>
            </a:r>
            <a:endParaRPr lang="en-US" sz="2400" dirty="0"/>
          </a:p>
        </p:txBody>
      </p:sp>
      <p:sp>
        <p:nvSpPr>
          <p:cNvPr id="140" name="chip-135"/>
          <p:cNvSpPr/>
          <p:nvPr/>
        </p:nvSpPr>
        <p:spPr>
          <a:xfrm>
            <a:off x="3168000" y="26946000"/>
            <a:ext cx="186480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WebSockets</a:t>
            </a:r>
            <a:endParaRPr lang="en-US" sz="2200" dirty="0"/>
          </a:p>
        </p:txBody>
      </p:sp>
      <p:sp>
        <p:nvSpPr>
          <p:cNvPr id="141" name="chip-136"/>
          <p:cNvSpPr/>
          <p:nvPr/>
        </p:nvSpPr>
        <p:spPr>
          <a:xfrm>
            <a:off x="5176800" y="26946000"/>
            <a:ext cx="111240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STOMP</a:t>
            </a:r>
            <a:endParaRPr lang="en-US" sz="2200" dirty="0"/>
          </a:p>
        </p:txBody>
      </p:sp>
      <p:sp>
        <p:nvSpPr>
          <p:cNvPr id="142" name="text-137"/>
          <p:cNvSpPr txBox="1"/>
          <p:nvPr/>
        </p:nvSpPr>
        <p:spPr>
          <a:xfrm>
            <a:off x="1368000" y="27504000"/>
            <a:ext cx="1800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Testing</a:t>
            </a:r>
            <a:endParaRPr lang="en-US" sz="2400" dirty="0"/>
          </a:p>
        </p:txBody>
      </p:sp>
      <p:sp>
        <p:nvSpPr>
          <p:cNvPr id="143" name="chip-138"/>
          <p:cNvSpPr/>
          <p:nvPr/>
        </p:nvSpPr>
        <p:spPr>
          <a:xfrm>
            <a:off x="3168000" y="27504000"/>
            <a:ext cx="141336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JUnit 5</a:t>
            </a:r>
            <a:endParaRPr lang="en-US" sz="2200" dirty="0"/>
          </a:p>
        </p:txBody>
      </p:sp>
      <p:sp>
        <p:nvSpPr>
          <p:cNvPr id="144" name="chip-139"/>
          <p:cNvSpPr/>
          <p:nvPr/>
        </p:nvSpPr>
        <p:spPr>
          <a:xfrm>
            <a:off x="4725360" y="27504000"/>
            <a:ext cx="141336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Mockito</a:t>
            </a:r>
            <a:endParaRPr lang="en-US" sz="2200" dirty="0"/>
          </a:p>
        </p:txBody>
      </p:sp>
      <p:sp>
        <p:nvSpPr>
          <p:cNvPr id="145" name="chip-140"/>
          <p:cNvSpPr/>
          <p:nvPr/>
        </p:nvSpPr>
        <p:spPr>
          <a:xfrm>
            <a:off x="6282720" y="27504000"/>
            <a:ext cx="81144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PIT</a:t>
            </a:r>
            <a:endParaRPr lang="en-US" sz="2200" dirty="0"/>
          </a:p>
        </p:txBody>
      </p:sp>
      <p:sp>
        <p:nvSpPr>
          <p:cNvPr id="146" name="text-141"/>
          <p:cNvSpPr txBox="1"/>
          <p:nvPr/>
        </p:nvSpPr>
        <p:spPr>
          <a:xfrm>
            <a:off x="1368000" y="28062000"/>
            <a:ext cx="1800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Hosting</a:t>
            </a:r>
            <a:endParaRPr lang="en-US" sz="2400" dirty="0"/>
          </a:p>
        </p:txBody>
      </p:sp>
      <p:sp>
        <p:nvSpPr>
          <p:cNvPr id="147" name="chip-142"/>
          <p:cNvSpPr/>
          <p:nvPr/>
        </p:nvSpPr>
        <p:spPr>
          <a:xfrm>
            <a:off x="3168000" y="28062000"/>
            <a:ext cx="126288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Docker</a:t>
            </a:r>
            <a:endParaRPr lang="en-US" sz="2200" dirty="0"/>
          </a:p>
        </p:txBody>
      </p:sp>
      <p:sp>
        <p:nvSpPr>
          <p:cNvPr id="148" name="chip-143"/>
          <p:cNvSpPr/>
          <p:nvPr/>
        </p:nvSpPr>
        <p:spPr>
          <a:xfrm>
            <a:off x="4574880" y="28062000"/>
            <a:ext cx="2918160" cy="39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Cloudflare Tunnel</a:t>
            </a:r>
            <a:endParaRPr lang="en-US" sz="2200" dirty="0"/>
          </a:p>
        </p:txBody>
      </p:sp>
      <p:pic>
        <p:nvPicPr>
          <p:cNvPr id="149" name="board-mrx" descr="Mr X's screen during a game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84000" y="25416000"/>
            <a:ext cx="3600000" cy="2150000"/>
          </a:xfrm>
          <a:prstGeom prst="rect">
            <a:avLst/>
          </a:prstGeom>
        </p:spPr>
      </p:pic>
      <p:sp>
        <p:nvSpPr>
          <p:cNvPr id="150" name="text-144"/>
          <p:cNvSpPr txBox="1"/>
          <p:nvPr/>
        </p:nvSpPr>
        <p:spPr>
          <a:xfrm>
            <a:off x="8784000" y="27638000"/>
            <a:ext cx="360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Mr X's screen in a live game</a:t>
            </a:r>
            <a:endParaRPr lang="en-US" sz="2200" dirty="0"/>
          </a:p>
        </p:txBody>
      </p:sp>
      <p:sp>
        <p:nvSpPr>
          <p:cNvPr id="151" name="shape-145"/>
          <p:cNvSpPr/>
          <p:nvPr/>
        </p:nvSpPr>
        <p:spPr>
          <a:xfrm>
            <a:off x="13104000" y="24336000"/>
            <a:ext cx="7416000" cy="4464000"/>
          </a:xfrm>
          <a:prstGeom prst="roundRect">
            <a:avLst>
              <a:gd name="adj" fmla="val 2419"/>
            </a:avLst>
          </a:prstGeom>
          <a:solidFill>
            <a:schemeClr val="accent1"/>
          </a:solidFill>
          <a:ln/>
        </p:spPr>
      </p:sp>
      <p:sp>
        <p:nvSpPr>
          <p:cNvPr id="152" name="shape-146"/>
          <p:cNvSpPr/>
          <p:nvPr/>
        </p:nvSpPr>
        <p:spPr>
          <a:xfrm>
            <a:off x="13320000" y="24480000"/>
            <a:ext cx="468000" cy="468000"/>
          </a:xfrm>
          <a:prstGeom prst="roundRect">
            <a:avLst>
              <a:gd name="adj" fmla="val 15385"/>
            </a:avLst>
          </a:prstGeom>
          <a:solidFill>
            <a:schemeClr val="tx1"/>
          </a:solidFill>
          <a:ln/>
        </p:spPr>
      </p:sp>
      <p:pic>
        <p:nvPicPr>
          <p:cNvPr id="153" name="icon-147" descr="/mnt/other/UniFiles/400-level-docs/Tri1/ENGR489/Scotland-Yard-NC/documentation/poster/icons/flag.sv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3410000" y="24570000"/>
            <a:ext cx="288000" cy="288000"/>
          </a:xfrm>
          <a:prstGeom prst="rect">
            <a:avLst/>
          </a:prstGeom>
        </p:spPr>
      </p:pic>
      <p:sp>
        <p:nvSpPr>
          <p:cNvPr id="154" name="text-148"/>
          <p:cNvSpPr txBox="1"/>
          <p:nvPr/>
        </p:nvSpPr>
        <p:spPr>
          <a:xfrm>
            <a:off x="13932000" y="24444000"/>
            <a:ext cx="6336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4000" dirty="0"/>
          </a:p>
        </p:txBody>
      </p:sp>
      <p:sp>
        <p:nvSpPr>
          <p:cNvPr id="155" name="text-149"/>
          <p:cNvSpPr txBox="1"/>
          <p:nvPr/>
        </p:nvSpPr>
        <p:spPr>
          <a:xfrm>
            <a:off x="13392000" y="25344000"/>
            <a:ext cx="68400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Played live at Open Day</a:t>
            </a:r>
            <a:endParaRPr lang="en-US" sz="26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Anyone can join over the internet</a:t>
            </a:r>
            <a:endParaRPr lang="en-US" sz="26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Ready for future Open Days</a:t>
            </a:r>
            <a:endParaRPr lang="en-US" sz="2600" dirty="0"/>
          </a:p>
        </p:txBody>
      </p:sp>
      <p:sp>
        <p:nvSpPr>
          <p:cNvPr id="156" name="text-150"/>
          <p:cNvSpPr txBox="1"/>
          <p:nvPr/>
        </p:nvSpPr>
        <p:spPr>
          <a:xfrm>
            <a:off x="13392000" y="26892000"/>
            <a:ext cx="684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157" name="text-151"/>
          <p:cNvSpPr txBox="1"/>
          <p:nvPr/>
        </p:nvSpPr>
        <p:spPr>
          <a:xfrm>
            <a:off x="13392000" y="27324000"/>
            <a:ext cx="6840000" cy="13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A big-screen view for the stand</a:t>
            </a:r>
            <a:endParaRPr lang="en-US" sz="26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A phone-friendly layout</a:t>
            </a:r>
            <a:endParaRPr lang="en-US" sz="26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Computer players for solo games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nting Mr X">
  <a:themeElements>
    <a:clrScheme name="Hunting Mr X">
      <a:dk1>
        <a:srgbClr val="111827"/>
      </a:dk1>
      <a:lt1>
        <a:srgbClr val="FFFFFF"/>
      </a:lt1>
      <a:dk2>
        <a:srgbClr val="4B5563"/>
      </a:dk2>
      <a:lt2>
        <a:srgbClr val="EAF3F1"/>
      </a:lt2>
      <a:accent1>
        <a:srgbClr val="3E7B74"/>
      </a:accent1>
      <a:accent2>
        <a:srgbClr val="BFE0DA"/>
      </a:accent2>
      <a:accent3>
        <a:srgbClr val="22C55E"/>
      </a:accent3>
      <a:accent4>
        <a:srgbClr val="EF4444"/>
      </a:accent4>
      <a:accent5>
        <a:srgbClr val="8B5CF6"/>
      </a:accent5>
      <a:accent6>
        <a:srgbClr val="06B6D4"/>
      </a:accent6>
      <a:hlink>
        <a:srgbClr val="3E7B74"/>
      </a:hlink>
      <a:folHlink>
        <a:srgbClr val="8B5CF6"/>
      </a:folHlink>
    </a:clrScheme>
    <a:fontScheme name="Hunting Mr 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Hunting Mr. X: Wellington Edition</dc:title>
  <dc:subject>PptxGenJS Presentation</dc:subject>
  <dc:creator>Ming Bao</dc:creator>
  <cp:lastModifiedBy>Ming Bao</cp:lastModifiedBy>
  <cp:revision>1</cp:revision>
  <dcterms:created xsi:type="dcterms:W3CDTF">2026-10-14T01:34:55Z</dcterms:created>
  <dcterms:modified xsi:type="dcterms:W3CDTF">2026-10-14T01:34:55Z</dcterms:modified>
</cp:coreProperties>
</file>