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21600000" cy="30492000"/>
  <p:notesSz cx="30492000" cy="2160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ster" id="{a106e984-5878-a7fb-4dc3-a8885eb174e9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1600000" cy="5688000"/>
          </a:xfrm>
          <a:prstGeom prst="rect">
            <a:avLst/>
          </a:prstGeom>
          <a:solidFill>
            <a:schemeClr val="tx1"/>
          </a:solidFill>
          <a:ln/>
        </p:spPr>
      </p:sp>
      <p:pic>
        <p:nvPicPr>
          <p:cNvPr id="3" name="Image 0" descr="Close-up of the game board over Wellington's city and harbou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0000" y="0"/>
            <a:ext cx="10800000" cy="5688000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1080000" y="936000"/>
            <a:ext cx="13680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90000"/>
              </a:lnSpc>
              <a:buNone/>
              <a:defRPr lang="en-US" sz="8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90000"/>
              </a:lnSpc>
              <a:buNone/>
            </a:pPr>
            <a:endParaRPr lang="en-US" sz="8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1080000" y="3204000"/>
            <a:ext cx="10800000" cy="93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6" name="Text 1"/>
          <p:cNvSpPr/>
          <p:nvPr/>
        </p:nvSpPr>
        <p:spPr>
          <a:xfrm>
            <a:off x="1080000" y="29088000"/>
            <a:ext cx="1944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Board-game mechanics used with permission from Ravensburger, for non-commercial academic use.</a:t>
            </a:r>
            <a:endParaRPr lang="en-US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image" Target="../media/image-1-5.png"/><Relationship Id="rId6" Type="http://schemas.openxmlformats.org/officeDocument/2006/relationships/image" Target="../media/image-1-6.svg"/><Relationship Id="rId7" Type="http://schemas.openxmlformats.org/officeDocument/2006/relationships/image" Target="../media/image-1-7.png"/><Relationship Id="rId8" Type="http://schemas.openxmlformats.org/officeDocument/2006/relationships/image" Target="../media/image-1-8.svg"/><Relationship Id="rId9" Type="http://schemas.openxmlformats.org/officeDocument/2006/relationships/image" Target="../media/image-1-9.png"/><Relationship Id="rId10" Type="http://schemas.openxmlformats.org/officeDocument/2006/relationships/image" Target="../media/image-1-10.svg"/><Relationship Id="rId11" Type="http://schemas.openxmlformats.org/officeDocument/2006/relationships/image" Target="../media/image-1-11.jpg"/><Relationship Id="rId12" Type="http://schemas.openxmlformats.org/officeDocument/2006/relationships/image" Target="../media/image-1-12.png"/><Relationship Id="rId13" Type="http://schemas.openxmlformats.org/officeDocument/2006/relationships/image" Target="../media/image-1-13.svg"/><Relationship Id="rId14" Type="http://schemas.openxmlformats.org/officeDocument/2006/relationships/image" Target="../media/image-1-14.png"/><Relationship Id="rId15" Type="http://schemas.openxmlformats.org/officeDocument/2006/relationships/image" Target="../media/image-1-15.svg"/><Relationship Id="rId16" Type="http://schemas.openxmlformats.org/officeDocument/2006/relationships/image" Target="../media/image-1-16.png"/><Relationship Id="rId17" Type="http://schemas.openxmlformats.org/officeDocument/2006/relationships/image" Target="../media/image-1-17.svg"/><Relationship Id="rId18" Type="http://schemas.openxmlformats.org/officeDocument/2006/relationships/image" Target="../media/image-1-18.png"/><Relationship Id="rId19" Type="http://schemas.openxmlformats.org/officeDocument/2006/relationships/image" Target="../media/image-1-19.svg"/><Relationship Id="rId20" Type="http://schemas.openxmlformats.org/officeDocument/2006/relationships/image" Target="../media/image-1-20.png"/><Relationship Id="rId21" Type="http://schemas.openxmlformats.org/officeDocument/2006/relationships/image" Target="../media/image-1-21.svg"/><Relationship Id="rId22" Type="http://schemas.openxmlformats.org/officeDocument/2006/relationships/image" Target="../media/image-1-22.png"/><Relationship Id="rId23" Type="http://schemas.openxmlformats.org/officeDocument/2006/relationships/image" Target="../media/image-1-23.svg"/><Relationship Id="rId24" Type="http://schemas.openxmlformats.org/officeDocument/2006/relationships/image" Target="../media/image-1-24.png"/><Relationship Id="rId25" Type="http://schemas.openxmlformats.org/officeDocument/2006/relationships/image" Target="../media/image-1-25.svg"/><Relationship Id="rId26" Type="http://schemas.openxmlformats.org/officeDocument/2006/relationships/image" Target="../media/image-1-26.png"/><Relationship Id="rId27" Type="http://schemas.openxmlformats.org/officeDocument/2006/relationships/image" Target="../media/image-1-27.svg"/><Relationship Id="rId28" Type="http://schemas.openxmlformats.org/officeDocument/2006/relationships/image" Target="../media/image-1-28.png"/><Relationship Id="rId29" Type="http://schemas.openxmlformats.org/officeDocument/2006/relationships/image" Target="../media/image-1-29.svg"/><Relationship Id="rId30" Type="http://schemas.openxmlformats.org/officeDocument/2006/relationships/image" Target="../media/image-1-30.png"/><Relationship Id="rId31" Type="http://schemas.openxmlformats.org/officeDocument/2006/relationships/image" Target="../media/image-1-31.svg"/><Relationship Id="rId32" Type="http://schemas.openxmlformats.org/officeDocument/2006/relationships/slideLayout" Target="../slideLayouts/slideLayout2.xml"/><Relationship Id="rId3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-1"/>
          <p:cNvSpPr txBox="1"/>
          <p:nvPr/>
        </p:nvSpPr>
        <p:spPr>
          <a:xfrm>
            <a:off x="1080000" y="504000"/>
            <a:ext cx="13680000" cy="3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300" kern="0" dirty="0">
                <a:solidFill>
                  <a:schemeClr val="accent2"/>
                </a:solidFill>
              </a:rPr>
              <a:t>ENGR489 PROJECT  ·  VICTORIA UNIVERSITY OF WELLINGTON</a:t>
            </a:r>
            <a:endParaRPr lang="en-US" sz="22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1080000" y="936000"/>
            <a:ext cx="13680000" cy="2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8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HUNTING MR. X</a:t>
            </a:r>
            <a:endParaRPr lang="en-US" sz="840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4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WELLINGTON EDITION</a:t>
            </a:r>
            <a:endParaRPr lang="en-US" sz="8400" dirty="0"/>
          </a:p>
        </p:txBody>
      </p:sp>
      <p:sp>
        <p:nvSpPr>
          <p:cNvPr id="4" name="Text 1"/>
          <p:cNvSpPr/>
          <p:nvPr>
            <p:ph idx="103" type="body" hasCustomPrompt="1"/>
          </p:nvPr>
        </p:nvSpPr>
        <p:spPr>
          <a:xfrm>
            <a:off x="1080000" y="3204000"/>
            <a:ext cx="10800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59E0B"/>
                </a:solidFill>
              </a:rPr>
              <a:t>A new Open Day demo:</a:t>
            </a:r>
            <a:endParaRPr lang="en-US" sz="3000" dirty="0"/>
          </a:p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</a:rPr>
              <a:t>a classic board game, played online on a real map of Wellington</a:t>
            </a:r>
            <a:endParaRPr lang="en-US" sz="3000" dirty="0"/>
          </a:p>
        </p:txBody>
      </p:sp>
      <p:pic>
        <p:nvPicPr>
          <p:cNvPr id="5" name="icon-2" descr="graduation cap icon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80000" y="4320000"/>
            <a:ext cx="396000" cy="396000"/>
          </a:xfrm>
          <a:prstGeom prst="rect">
            <a:avLst/>
          </a:prstGeom>
        </p:spPr>
      </p:pic>
      <p:sp>
        <p:nvSpPr>
          <p:cNvPr id="6" name="text-3"/>
          <p:cNvSpPr txBox="1"/>
          <p:nvPr/>
        </p:nvSpPr>
        <p:spPr>
          <a:xfrm>
            <a:off x="1620000" y="4284000"/>
            <a:ext cx="12960000" cy="46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Ming Bao</a:t>
            </a:r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   ·   Supervisors: Jens Dietrich, Stuart Marshall</a:t>
            </a:r>
            <a:endParaRPr lang="en-US" sz="2800" dirty="0"/>
          </a:p>
        </p:txBody>
      </p:sp>
      <p:sp>
        <p:nvSpPr>
          <p:cNvPr id="7" name="chip-4"/>
          <p:cNvSpPr/>
          <p:nvPr/>
        </p:nvSpPr>
        <p:spPr>
          <a:xfrm>
            <a:off x="1080000" y="4824000"/>
            <a:ext cx="2001600" cy="396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KEY FINDINGS</a:t>
            </a:r>
            <a:endParaRPr lang="en-US" sz="2000" dirty="0"/>
          </a:p>
        </p:txBody>
      </p:sp>
      <p:sp>
        <p:nvSpPr>
          <p:cNvPr id="8" name="shape-5"/>
          <p:cNvSpPr/>
          <p:nvPr/>
        </p:nvSpPr>
        <p:spPr>
          <a:xfrm>
            <a:off x="1080000" y="5292000"/>
            <a:ext cx="6192000" cy="223200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9" name="icon-6" descr="school icon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68000" y="5580000"/>
            <a:ext cx="396000" cy="396000"/>
          </a:xfrm>
          <a:prstGeom prst="rect">
            <a:avLst/>
          </a:prstGeom>
        </p:spPr>
      </p:pic>
      <p:sp>
        <p:nvSpPr>
          <p:cNvPr id="10" name="text-7"/>
          <p:cNvSpPr txBox="1"/>
          <p:nvPr/>
        </p:nvSpPr>
        <p:spPr>
          <a:xfrm>
            <a:off x="1512000" y="5436000"/>
            <a:ext cx="5616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students</a:t>
            </a:r>
            <a:endParaRPr lang="en-US" sz="5000" dirty="0"/>
          </a:p>
        </p:txBody>
      </p:sp>
      <p:sp>
        <p:nvSpPr>
          <p:cNvPr id="11" name="text-8"/>
          <p:cNvSpPr txBox="1"/>
          <p:nvPr/>
        </p:nvSpPr>
        <p:spPr>
          <a:xfrm>
            <a:off x="1296000" y="6408000"/>
            <a:ext cx="5760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a demo for prospective students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</a:rPr>
              <a:t>at the university's Open Days</a:t>
            </a:r>
            <a:endParaRPr lang="en-US" sz="2600" dirty="0"/>
          </a:p>
        </p:txBody>
      </p:sp>
      <p:sp>
        <p:nvSpPr>
          <p:cNvPr id="12" name="shape-9"/>
          <p:cNvSpPr/>
          <p:nvPr/>
        </p:nvSpPr>
        <p:spPr>
          <a:xfrm>
            <a:off x="7704000" y="5292000"/>
            <a:ext cx="6192000" cy="223200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3" name="icon-10" descr="dices icon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992000" y="5580000"/>
            <a:ext cx="396000" cy="396000"/>
          </a:xfrm>
          <a:prstGeom prst="rect">
            <a:avLst/>
          </a:prstGeom>
        </p:spPr>
      </p:pic>
      <p:sp>
        <p:nvSpPr>
          <p:cNvPr id="14" name="text-11"/>
          <p:cNvSpPr txBox="1"/>
          <p:nvPr/>
        </p:nvSpPr>
        <p:spPr>
          <a:xfrm>
            <a:off x="8136000" y="5436000"/>
            <a:ext cx="5616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Scotland Yard</a:t>
            </a:r>
            <a:endParaRPr lang="en-US" sz="5000" dirty="0"/>
          </a:p>
        </p:txBody>
      </p:sp>
      <p:sp>
        <p:nvSpPr>
          <p:cNvPr id="15" name="text-12"/>
          <p:cNvSpPr txBox="1"/>
          <p:nvPr/>
        </p:nvSpPr>
        <p:spPr>
          <a:xfrm>
            <a:off x="7920000" y="6408000"/>
            <a:ext cx="5760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inspired by the classic board game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</a:rPr>
              <a:t>by Ravensburger</a:t>
            </a:r>
            <a:endParaRPr lang="en-US" sz="2600" dirty="0"/>
          </a:p>
        </p:txBody>
      </p:sp>
      <p:sp>
        <p:nvSpPr>
          <p:cNvPr id="16" name="shape-13"/>
          <p:cNvSpPr/>
          <p:nvPr/>
        </p:nvSpPr>
        <p:spPr>
          <a:xfrm>
            <a:off x="14328000" y="5292000"/>
            <a:ext cx="6192000" cy="2232000"/>
          </a:xfrm>
          <a:prstGeom prst="roundRect">
            <a:avLst>
              <a:gd name="adj" fmla="val 6452"/>
            </a:avLst>
          </a:prstGeom>
          <a:solidFill>
            <a:schemeClr val="accent1"/>
          </a:solidFill>
          <a:ln/>
          <a:effectLst>
            <a:outerShdw sx="100000" sy="100000" kx="0" ky="0" algn="bl" rotWithShape="0" blurRad="101600" dist="38100" dir="5400000">
              <a:srgbClr val="000000">
                <a:alpha val="30000"/>
              </a:srgbClr>
            </a:outerShdw>
          </a:effectLst>
        </p:spPr>
      </p:sp>
      <p:pic>
        <p:nvPicPr>
          <p:cNvPr id="17" name="icon-14" descr="monitor smartphone icon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4616000" y="5580000"/>
            <a:ext cx="396000" cy="396000"/>
          </a:xfrm>
          <a:prstGeom prst="rect">
            <a:avLst/>
          </a:prstGeom>
        </p:spPr>
      </p:pic>
      <p:sp>
        <p:nvSpPr>
          <p:cNvPr id="18" name="text-15"/>
          <p:cNvSpPr txBox="1"/>
          <p:nvPr/>
        </p:nvSpPr>
        <p:spPr>
          <a:xfrm>
            <a:off x="14760000" y="5436000"/>
            <a:ext cx="5616000" cy="93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install</a:t>
            </a:r>
            <a:endParaRPr lang="en-US" sz="5000" dirty="0"/>
          </a:p>
        </p:txBody>
      </p:sp>
      <p:sp>
        <p:nvSpPr>
          <p:cNvPr id="19" name="text-16"/>
          <p:cNvSpPr txBox="1"/>
          <p:nvPr/>
        </p:nvSpPr>
        <p:spPr>
          <a:xfrm>
            <a:off x="14544000" y="6408000"/>
            <a:ext cx="5760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join from a web browser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dirty="0">
                <a:solidFill>
                  <a:schemeClr val="accent2"/>
                </a:solidFill>
              </a:rPr>
              <a:t>with a link or a six-character code</a:t>
            </a:r>
            <a:endParaRPr lang="en-US" sz="2600" dirty="0"/>
          </a:p>
        </p:txBody>
      </p:sp>
      <p:sp>
        <p:nvSpPr>
          <p:cNvPr id="20" name="shape-17"/>
          <p:cNvSpPr/>
          <p:nvPr/>
        </p:nvSpPr>
        <p:spPr>
          <a:xfrm>
            <a:off x="1080000" y="7884000"/>
            <a:ext cx="11880000" cy="11592000"/>
          </a:xfrm>
          <a:prstGeom prst="roundRect">
            <a:avLst>
              <a:gd name="adj" fmla="val 932"/>
            </a:avLst>
          </a:prstGeom>
          <a:solidFill>
            <a:schemeClr val="tx1"/>
          </a:solidFill>
          <a:ln/>
        </p:spPr>
      </p:sp>
      <p:sp>
        <p:nvSpPr>
          <p:cNvPr id="21" name="shape-18"/>
          <p:cNvSpPr/>
          <p:nvPr/>
        </p:nvSpPr>
        <p:spPr>
          <a:xfrm>
            <a:off x="1296000" y="8028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22" name="icon-19" descr="map icon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86000" y="8118000"/>
            <a:ext cx="288000" cy="288000"/>
          </a:xfrm>
          <a:prstGeom prst="rect">
            <a:avLst/>
          </a:prstGeom>
        </p:spPr>
      </p:pic>
      <p:sp>
        <p:nvSpPr>
          <p:cNvPr id="23" name="text-20"/>
          <p:cNvSpPr txBox="1"/>
          <p:nvPr/>
        </p:nvSpPr>
        <p:spPr>
          <a:xfrm>
            <a:off x="1908000" y="7992000"/>
            <a:ext cx="1080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BOARD: ALL OF WELLINGTON</a:t>
            </a:r>
            <a:endParaRPr lang="en-US" sz="4000" dirty="0"/>
          </a:p>
        </p:txBody>
      </p:sp>
      <p:pic>
        <p:nvPicPr>
          <p:cNvPr id="24" name="board" descr="The game board: 216 places across the Wellington region, joined by colour-coded rout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368000" y="8820000"/>
            <a:ext cx="11304000" cy="10276364"/>
          </a:xfrm>
          <a:prstGeom prst="rect">
            <a:avLst/>
          </a:prstGeom>
        </p:spPr>
      </p:pic>
      <p:sp>
        <p:nvSpPr>
          <p:cNvPr id="25" name="area-21"/>
          <p:cNvSpPr/>
          <p:nvPr/>
        </p:nvSpPr>
        <p:spPr>
          <a:xfrm>
            <a:off x="1594080" y="11234945"/>
            <a:ext cx="216576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Porirua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35</a:t>
            </a:r>
            <a:endParaRPr lang="en-US" sz="2400" dirty="0"/>
          </a:p>
        </p:txBody>
      </p:sp>
      <p:sp>
        <p:nvSpPr>
          <p:cNvPr id="26" name="area-22"/>
          <p:cNvSpPr/>
          <p:nvPr/>
        </p:nvSpPr>
        <p:spPr>
          <a:xfrm>
            <a:off x="8487720" y="9796255"/>
            <a:ext cx="265824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Upper Hutt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18</a:t>
            </a:r>
            <a:endParaRPr lang="en-US" sz="2400" dirty="0"/>
          </a:p>
        </p:txBody>
      </p:sp>
      <p:sp>
        <p:nvSpPr>
          <p:cNvPr id="27" name="area-23"/>
          <p:cNvSpPr/>
          <p:nvPr/>
        </p:nvSpPr>
        <p:spPr>
          <a:xfrm>
            <a:off x="1368000" y="12725018"/>
            <a:ext cx="298656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Johnsonville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29</a:t>
            </a:r>
            <a:endParaRPr lang="en-US" sz="2400" dirty="0"/>
          </a:p>
        </p:txBody>
      </p:sp>
      <p:sp>
        <p:nvSpPr>
          <p:cNvPr id="28" name="area-24"/>
          <p:cNvSpPr/>
          <p:nvPr/>
        </p:nvSpPr>
        <p:spPr>
          <a:xfrm>
            <a:off x="8772120" y="14163709"/>
            <a:ext cx="265824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Lower Hutt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65</a:t>
            </a:r>
            <a:endParaRPr lang="en-US" sz="2400" dirty="0"/>
          </a:p>
        </p:txBody>
      </p:sp>
      <p:sp>
        <p:nvSpPr>
          <p:cNvPr id="29" name="area-25"/>
          <p:cNvSpPr/>
          <p:nvPr/>
        </p:nvSpPr>
        <p:spPr>
          <a:xfrm>
            <a:off x="3685320" y="17914582"/>
            <a:ext cx="3479040" cy="432000"/>
          </a:xfrm>
          <a:prstGeom prst="roundRect">
            <a:avLst>
              <a:gd name="adj" fmla="val 50000"/>
            </a:avLst>
          </a:prstGeom>
          <a:solidFill>
            <a:schemeClr val="tx1">
              <a:alpha val="85000"/>
            </a:schemeClr>
          </a:solidFill>
          <a:ln w="19050">
            <a:solidFill>
              <a:schemeClr val="accent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Wellington city</a:t>
            </a:r>
            <a:pPr algn="ctr" indent="0" marL="0">
              <a:buNone/>
            </a:pPr>
            <a:r>
              <a:rPr lang="en-US" sz="2400" b="1" dirty="0">
                <a:solidFill>
                  <a:srgbClr val="F59E0B"/>
                </a:solidFill>
              </a:rPr>
              <a:t>  69</a:t>
            </a:r>
            <a:endParaRPr lang="en-US" sz="2400" dirty="0"/>
          </a:p>
        </p:txBody>
      </p:sp>
      <p:sp>
        <p:nvSpPr>
          <p:cNvPr id="30" name="chip-26"/>
          <p:cNvSpPr/>
          <p:nvPr/>
        </p:nvSpPr>
        <p:spPr>
          <a:xfrm>
            <a:off x="7980840" y="11748764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TRAIN</a:t>
            </a:r>
            <a:endParaRPr lang="en-US" sz="2200" dirty="0"/>
          </a:p>
        </p:txBody>
      </p:sp>
      <p:sp>
        <p:nvSpPr>
          <p:cNvPr id="31" name="chip-27"/>
          <p:cNvSpPr/>
          <p:nvPr/>
        </p:nvSpPr>
        <p:spPr>
          <a:xfrm>
            <a:off x="5946120" y="16373127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FERRY</a:t>
            </a:r>
            <a:endParaRPr lang="en-US" sz="2200" dirty="0"/>
          </a:p>
        </p:txBody>
      </p:sp>
      <p:sp>
        <p:nvSpPr>
          <p:cNvPr id="32" name="text-28"/>
          <p:cNvSpPr txBox="1"/>
          <p:nvPr/>
        </p:nvSpPr>
        <p:spPr>
          <a:xfrm>
            <a:off x="8489520" y="16424509"/>
            <a:ext cx="2520000" cy="1296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11000" dirty="0"/>
          </a:p>
        </p:txBody>
      </p:sp>
      <p:sp>
        <p:nvSpPr>
          <p:cNvPr id="33" name="text-29"/>
          <p:cNvSpPr txBox="1"/>
          <p:nvPr/>
        </p:nvSpPr>
        <p:spPr>
          <a:xfrm>
            <a:off x="10937520" y="16856509"/>
            <a:ext cx="1800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places</a:t>
            </a:r>
            <a:endParaRPr lang="en-US" sz="3600" dirty="0"/>
          </a:p>
        </p:txBody>
      </p:sp>
      <p:sp>
        <p:nvSpPr>
          <p:cNvPr id="34" name="text-30"/>
          <p:cNvSpPr txBox="1"/>
          <p:nvPr/>
        </p:nvSpPr>
        <p:spPr>
          <a:xfrm>
            <a:off x="8489520" y="17792509"/>
            <a:ext cx="417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2"/>
                </a:solidFill>
              </a:rPr>
              <a:t>372 routes  ·  5 areas</a:t>
            </a:r>
            <a:endParaRPr lang="en-US" sz="2800" dirty="0"/>
          </a:p>
        </p:txBody>
      </p:sp>
      <p:sp>
        <p:nvSpPr>
          <p:cNvPr id="35" name="text-31"/>
          <p:cNvSpPr txBox="1"/>
          <p:nvPr/>
        </p:nvSpPr>
        <p:spPr>
          <a:xfrm>
            <a:off x="1368000" y="19132364"/>
            <a:ext cx="11304000" cy="28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dirty="0">
                <a:solidFill>
                  <a:schemeClr val="accent2"/>
                </a:solidFill>
              </a:rPr>
              <a:t>Map data © OpenStreetMap contributors, © CARTO</a:t>
            </a:r>
            <a:endParaRPr lang="en-US" sz="1800" dirty="0"/>
          </a:p>
        </p:txBody>
      </p:sp>
      <p:sp>
        <p:nvSpPr>
          <p:cNvPr id="36" name="shape-32"/>
          <p:cNvSpPr/>
          <p:nvPr/>
        </p:nvSpPr>
        <p:spPr>
          <a:xfrm>
            <a:off x="13392000" y="7884000"/>
            <a:ext cx="7128000" cy="3240000"/>
          </a:xfrm>
          <a:prstGeom prst="roundRect">
            <a:avLst>
              <a:gd name="adj" fmla="val 3333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37" name="shape-33"/>
          <p:cNvSpPr/>
          <p:nvPr/>
        </p:nvSpPr>
        <p:spPr>
          <a:xfrm>
            <a:off x="13608000" y="8028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38" name="icon-34" descr="target icon">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3698000" y="8118000"/>
            <a:ext cx="288000" cy="288000"/>
          </a:xfrm>
          <a:prstGeom prst="rect">
            <a:avLst/>
          </a:prstGeom>
        </p:spPr>
      </p:pic>
      <p:sp>
        <p:nvSpPr>
          <p:cNvPr id="39" name="text-35"/>
          <p:cNvSpPr txBox="1"/>
          <p:nvPr/>
        </p:nvSpPr>
        <p:spPr>
          <a:xfrm>
            <a:off x="14220000" y="7992000"/>
            <a:ext cx="6048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OPEN DAY?</a:t>
            </a:r>
            <a:endParaRPr lang="en-US" sz="4000" dirty="0"/>
          </a:p>
        </p:txBody>
      </p:sp>
      <p:sp>
        <p:nvSpPr>
          <p:cNvPr id="40" name="rule-36"/>
          <p:cNvSpPr/>
          <p:nvPr/>
        </p:nvSpPr>
        <p:spPr>
          <a:xfrm>
            <a:off x="13392000" y="8640000"/>
            <a:ext cx="7128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1" name="text-37"/>
          <p:cNvSpPr txBox="1"/>
          <p:nvPr/>
        </p:nvSpPr>
        <p:spPr>
          <a:xfrm>
            <a:off x="13680000" y="8820000"/>
            <a:ext cx="6552000" cy="208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The old software demo was over five years old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Visitors need something to try in minutes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A map of their own city is instantly familiar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It shows what a fourth-year student can build</a:t>
            </a:r>
            <a:endParaRPr lang="en-US" sz="2600" dirty="0"/>
          </a:p>
        </p:txBody>
      </p:sp>
      <p:sp>
        <p:nvSpPr>
          <p:cNvPr id="42" name="shape-38"/>
          <p:cNvSpPr/>
          <p:nvPr/>
        </p:nvSpPr>
        <p:spPr>
          <a:xfrm>
            <a:off x="13392000" y="11484000"/>
            <a:ext cx="7128000" cy="4176000"/>
          </a:xfrm>
          <a:prstGeom prst="roundRect">
            <a:avLst>
              <a:gd name="adj" fmla="val 2586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43" name="shape-39"/>
          <p:cNvSpPr/>
          <p:nvPr/>
        </p:nvSpPr>
        <p:spPr>
          <a:xfrm>
            <a:off x="13608000" y="11628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44" name="icon-40" descr="gamepad 2 icon">    </p:cNvPr>
          <p:cNvPicPr>
            <a:picLocks noChangeAspect="1"/>
          </p:cNvPicPr>
          <p:nvPr/>
        </p:nvPicPr>
        <p:blipFill>
          <a:blip r:embed="rId14"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13698000" y="11718000"/>
            <a:ext cx="288000" cy="288000"/>
          </a:xfrm>
          <a:prstGeom prst="rect">
            <a:avLst/>
          </a:prstGeom>
        </p:spPr>
      </p:pic>
      <p:sp>
        <p:nvSpPr>
          <p:cNvPr id="45" name="text-41"/>
          <p:cNvSpPr txBox="1"/>
          <p:nvPr/>
        </p:nvSpPr>
        <p:spPr>
          <a:xfrm>
            <a:off x="14220000" y="11592000"/>
            <a:ext cx="6048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PLAY</a:t>
            </a:r>
            <a:endParaRPr lang="en-US" sz="4000" dirty="0"/>
          </a:p>
        </p:txBody>
      </p:sp>
      <p:sp>
        <p:nvSpPr>
          <p:cNvPr id="46" name="rule-42"/>
          <p:cNvSpPr/>
          <p:nvPr/>
        </p:nvSpPr>
        <p:spPr>
          <a:xfrm>
            <a:off x="13392000" y="12240000"/>
            <a:ext cx="7128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47" name="text-43"/>
          <p:cNvSpPr txBox="1"/>
          <p:nvPr/>
        </p:nvSpPr>
        <p:spPr>
          <a:xfrm>
            <a:off x="13680000" y="12420000"/>
            <a:ext cx="6552000" cy="2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Mr X hides; up to five detectives hunt him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Every move spends a travel ticket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Mr X is shown only every few rounds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tx1"/>
                </a:solidFill>
              </a:rPr>
              <a:t>Catch him within 24 rounds to win</a:t>
            </a:r>
            <a:endParaRPr lang="en-US" sz="2600" dirty="0"/>
          </a:p>
        </p:txBody>
      </p:sp>
      <p:sp>
        <p:nvSpPr>
          <p:cNvPr id="48" name="chip-44"/>
          <p:cNvSpPr/>
          <p:nvPr/>
        </p:nvSpPr>
        <p:spPr>
          <a:xfrm>
            <a:off x="13680000" y="14580000"/>
            <a:ext cx="1563840" cy="39600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Escooter</a:t>
            </a:r>
            <a:endParaRPr lang="en-US" sz="2200" dirty="0"/>
          </a:p>
        </p:txBody>
      </p:sp>
      <p:sp>
        <p:nvSpPr>
          <p:cNvPr id="49" name="chip-45"/>
          <p:cNvSpPr/>
          <p:nvPr/>
        </p:nvSpPr>
        <p:spPr>
          <a:xfrm>
            <a:off x="15387840" y="14580000"/>
            <a:ext cx="811440" cy="3960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Bus</a:t>
            </a:r>
            <a:endParaRPr lang="en-US" sz="2200" dirty="0"/>
          </a:p>
        </p:txBody>
      </p:sp>
      <p:sp>
        <p:nvSpPr>
          <p:cNvPr id="50" name="chip-46"/>
          <p:cNvSpPr/>
          <p:nvPr/>
        </p:nvSpPr>
        <p:spPr>
          <a:xfrm>
            <a:off x="16343280" y="14580000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Train</a:t>
            </a:r>
            <a:endParaRPr lang="en-US" sz="2200" dirty="0"/>
          </a:p>
        </p:txBody>
      </p:sp>
      <p:sp>
        <p:nvSpPr>
          <p:cNvPr id="51" name="chip-47"/>
          <p:cNvSpPr/>
          <p:nvPr/>
        </p:nvSpPr>
        <p:spPr>
          <a:xfrm>
            <a:off x="13680000" y="15084000"/>
            <a:ext cx="1112400" cy="396000"/>
          </a:xfrm>
          <a:prstGeom prst="roundRect">
            <a:avLst>
              <a:gd name="adj" fmla="val 50000"/>
            </a:avLst>
          </a:prstGeom>
          <a:solidFill>
            <a:srgbClr val="06B6D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Ferry</a:t>
            </a:r>
            <a:endParaRPr lang="en-US" sz="2200" dirty="0"/>
          </a:p>
        </p:txBody>
      </p:sp>
      <p:sp>
        <p:nvSpPr>
          <p:cNvPr id="52" name="chip-48"/>
          <p:cNvSpPr/>
          <p:nvPr/>
        </p:nvSpPr>
        <p:spPr>
          <a:xfrm>
            <a:off x="14936400" y="15084000"/>
            <a:ext cx="1714320" cy="39600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Invisible</a:t>
            </a:r>
            <a:endParaRPr lang="en-US" sz="2200" dirty="0"/>
          </a:p>
        </p:txBody>
      </p:sp>
      <p:sp>
        <p:nvSpPr>
          <p:cNvPr id="53" name="chip-49"/>
          <p:cNvSpPr/>
          <p:nvPr/>
        </p:nvSpPr>
        <p:spPr>
          <a:xfrm>
            <a:off x="16794720" y="15084000"/>
            <a:ext cx="1262880" cy="396000"/>
          </a:xfrm>
          <a:prstGeom prst="roundRect">
            <a:avLst>
              <a:gd name="adj" fmla="val 50000"/>
            </a:avLst>
          </a:prstGeom>
          <a:solidFill>
            <a:srgbClr val="F59E0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Double</a:t>
            </a:r>
            <a:endParaRPr lang="en-US" sz="2200" dirty="0"/>
          </a:p>
        </p:txBody>
      </p:sp>
      <p:sp>
        <p:nvSpPr>
          <p:cNvPr id="54" name="shape-50"/>
          <p:cNvSpPr/>
          <p:nvPr/>
        </p:nvSpPr>
        <p:spPr>
          <a:xfrm>
            <a:off x="13392000" y="16020000"/>
            <a:ext cx="7128000" cy="3456000"/>
          </a:xfrm>
          <a:prstGeom prst="roundRect">
            <a:avLst>
              <a:gd name="adj" fmla="val 3125"/>
            </a:avLst>
          </a:prstGeom>
          <a:solidFill>
            <a:schemeClr val="bg2"/>
          </a:solidFill>
          <a:ln/>
        </p:spPr>
      </p:sp>
      <p:pic>
        <p:nvPicPr>
          <p:cNvPr id="55" name="qr" descr="QR code linking to the game at vuw-mrx.xyz">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3680000" y="16308000"/>
            <a:ext cx="2880000" cy="2880000"/>
          </a:xfrm>
          <a:prstGeom prst="rect">
            <a:avLst/>
          </a:prstGeom>
        </p:spPr>
      </p:pic>
      <p:sp>
        <p:nvSpPr>
          <p:cNvPr id="56" name="text-51"/>
          <p:cNvSpPr txBox="1"/>
          <p:nvPr/>
        </p:nvSpPr>
        <p:spPr>
          <a:xfrm>
            <a:off x="16920000" y="16308000"/>
            <a:ext cx="3312000" cy="28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PLAY IT NOW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chemeClr val="tx1"/>
                </a:solidFill>
              </a:rPr>
              <a:t>Scan or visit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vuw-mrx.xyz</a:t>
            </a:r>
            <a:endParaRPr lang="en-US" sz="2600" dirty="0"/>
          </a:p>
        </p:txBody>
      </p:sp>
      <p:sp>
        <p:nvSpPr>
          <p:cNvPr id="57" name="shape-52"/>
          <p:cNvSpPr/>
          <p:nvPr/>
        </p:nvSpPr>
        <p:spPr>
          <a:xfrm>
            <a:off x="1080000" y="19836000"/>
            <a:ext cx="19440000" cy="4032000"/>
          </a:xfrm>
          <a:prstGeom prst="roundRect">
            <a:avLst>
              <a:gd name="adj" fmla="val 2679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58" name="shape-53"/>
          <p:cNvSpPr/>
          <p:nvPr/>
        </p:nvSpPr>
        <p:spPr>
          <a:xfrm>
            <a:off x="1080000" y="19836000"/>
            <a:ext cx="19440000" cy="648000"/>
          </a:xfrm>
          <a:prstGeom prst="roundRect">
            <a:avLst>
              <a:gd name="adj" fmla="val 16667"/>
            </a:avLst>
          </a:prstGeom>
          <a:solidFill>
            <a:schemeClr val="accent1"/>
          </a:solidFill>
          <a:ln/>
        </p:spPr>
      </p:sp>
      <p:sp>
        <p:nvSpPr>
          <p:cNvPr id="59" name="shape-54"/>
          <p:cNvSpPr/>
          <p:nvPr/>
        </p:nvSpPr>
        <p:spPr>
          <a:xfrm>
            <a:off x="1080000" y="20160000"/>
            <a:ext cx="19440000" cy="324000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60" name="icon-55" descr="shield check icon">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332000" y="19980000"/>
            <a:ext cx="360000" cy="360000"/>
          </a:xfrm>
          <a:prstGeom prst="rect">
            <a:avLst/>
          </a:prstGeom>
        </p:spPr>
      </p:pic>
      <p:sp>
        <p:nvSpPr>
          <p:cNvPr id="61" name="text-56"/>
          <p:cNvSpPr txBox="1"/>
          <p:nvPr/>
        </p:nvSpPr>
        <p:spPr>
          <a:xfrm>
            <a:off x="1872000" y="19908000"/>
            <a:ext cx="18360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CHALLENGES</a:t>
            </a:r>
            <a:endParaRPr lang="en-US" sz="4000" dirty="0"/>
          </a:p>
        </p:txBody>
      </p:sp>
      <p:sp>
        <p:nvSpPr>
          <p:cNvPr id="62" name="shape-57"/>
          <p:cNvSpPr/>
          <p:nvPr/>
        </p:nvSpPr>
        <p:spPr>
          <a:xfrm>
            <a:off x="1368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63" name="icon-circle-58"/>
          <p:cNvSpPr/>
          <p:nvPr/>
        </p:nvSpPr>
        <p:spPr>
          <a:xfrm>
            <a:off x="1548000" y="20880000"/>
            <a:ext cx="576000" cy="576000"/>
          </a:xfrm>
          <a:prstGeom prst="ellipse">
            <a:avLst/>
          </a:prstGeom>
          <a:solidFill>
            <a:srgbClr val="EF4444"/>
          </a:solidFill>
          <a:ln/>
        </p:spPr>
      </p:sp>
      <p:pic>
        <p:nvPicPr>
          <p:cNvPr id="64" name="icon-59" descr="lock icon">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674720" y="21006720"/>
            <a:ext cx="322560" cy="322560"/>
          </a:xfrm>
          <a:prstGeom prst="rect">
            <a:avLst/>
          </a:prstGeom>
        </p:spPr>
      </p:pic>
      <p:sp>
        <p:nvSpPr>
          <p:cNvPr id="65" name="text-60"/>
          <p:cNvSpPr txBox="1"/>
          <p:nvPr/>
        </p:nvSpPr>
        <p:spPr>
          <a:xfrm>
            <a:off x="2268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KEEPING A SECRET</a:t>
            </a:r>
            <a:endParaRPr lang="en-US" sz="2600" dirty="0"/>
          </a:p>
        </p:txBody>
      </p:sp>
      <p:sp>
        <p:nvSpPr>
          <p:cNvPr id="66" name="text-61"/>
          <p:cNvSpPr txBox="1"/>
          <p:nvPr/>
        </p:nvSpPr>
        <p:spPr>
          <a:xfrm>
            <a:off x="1548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Each player is sent their own view, so Mr X's position never reaches a detective's screen.</a:t>
            </a:r>
            <a:endParaRPr lang="en-US" sz="2700" dirty="0"/>
          </a:p>
        </p:txBody>
      </p:sp>
      <p:sp>
        <p:nvSpPr>
          <p:cNvPr id="67" name="shape-62"/>
          <p:cNvSpPr/>
          <p:nvPr/>
        </p:nvSpPr>
        <p:spPr>
          <a:xfrm>
            <a:off x="6174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68" name="icon-circle-63"/>
          <p:cNvSpPr/>
          <p:nvPr/>
        </p:nvSpPr>
        <p:spPr>
          <a:xfrm>
            <a:off x="6354000" y="20880000"/>
            <a:ext cx="576000" cy="576000"/>
          </a:xfrm>
          <a:prstGeom prst="ellipse">
            <a:avLst/>
          </a:prstGeom>
          <a:solidFill>
            <a:srgbClr val="06B6D4"/>
          </a:solidFill>
          <a:ln/>
        </p:spPr>
      </p:sp>
      <p:pic>
        <p:nvPicPr>
          <p:cNvPr id="69" name="icon-64" descr="refresh cw icon">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480720" y="21006720"/>
            <a:ext cx="322560" cy="322560"/>
          </a:xfrm>
          <a:prstGeom prst="rect">
            <a:avLst/>
          </a:prstGeom>
        </p:spPr>
      </p:pic>
      <p:sp>
        <p:nvSpPr>
          <p:cNvPr id="70" name="text-65"/>
          <p:cNvSpPr txBox="1"/>
          <p:nvPr/>
        </p:nvSpPr>
        <p:spPr>
          <a:xfrm>
            <a:off x="7074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STAYING IN SYNC</a:t>
            </a:r>
            <a:endParaRPr lang="en-US" sz="2600" dirty="0"/>
          </a:p>
        </p:txBody>
      </p:sp>
      <p:sp>
        <p:nvSpPr>
          <p:cNvPr id="71" name="text-66"/>
          <p:cNvSpPr txBox="1"/>
          <p:nvPr/>
        </p:nvSpPr>
        <p:spPr>
          <a:xfrm>
            <a:off x="6354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Every move is pushed live to every screen. A dropped connection catches up by itself.</a:t>
            </a:r>
            <a:endParaRPr lang="en-US" sz="2700" dirty="0"/>
          </a:p>
        </p:txBody>
      </p:sp>
      <p:sp>
        <p:nvSpPr>
          <p:cNvPr id="72" name="shape-67"/>
          <p:cNvSpPr/>
          <p:nvPr/>
        </p:nvSpPr>
        <p:spPr>
          <a:xfrm>
            <a:off x="10980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73" name="icon-circle-68"/>
          <p:cNvSpPr/>
          <p:nvPr/>
        </p:nvSpPr>
        <p:spPr>
          <a:xfrm>
            <a:off x="11160000" y="20880000"/>
            <a:ext cx="576000" cy="576000"/>
          </a:xfrm>
          <a:prstGeom prst="ellipse">
            <a:avLst/>
          </a:prstGeom>
          <a:solidFill>
            <a:srgbClr val="22C55E"/>
          </a:solidFill>
          <a:ln/>
        </p:spPr>
      </p:sp>
      <p:pic>
        <p:nvPicPr>
          <p:cNvPr id="74" name="icon-69" descr="map icon">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1286720" y="21006720"/>
            <a:ext cx="322560" cy="322560"/>
          </a:xfrm>
          <a:prstGeom prst="rect">
            <a:avLst/>
          </a:prstGeom>
        </p:spPr>
      </p:pic>
      <p:sp>
        <p:nvSpPr>
          <p:cNvPr id="75" name="text-70"/>
          <p:cNvSpPr txBox="1"/>
          <p:nvPr/>
        </p:nvSpPr>
        <p:spPr>
          <a:xfrm>
            <a:off x="11880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FREE REAL MAP</a:t>
            </a:r>
            <a:endParaRPr lang="en-US" sz="2600" dirty="0"/>
          </a:p>
        </p:txBody>
      </p:sp>
      <p:sp>
        <p:nvSpPr>
          <p:cNvPr id="76" name="text-71"/>
          <p:cNvSpPr txBox="1"/>
          <p:nvPr/>
        </p:nvSpPr>
        <p:spPr>
          <a:xfrm>
            <a:off x="11160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Routes along real roads are worked out once, not paid for on every move.</a:t>
            </a:r>
            <a:endParaRPr lang="en-US" sz="2700" dirty="0"/>
          </a:p>
        </p:txBody>
      </p:sp>
      <p:sp>
        <p:nvSpPr>
          <p:cNvPr id="77" name="shape-72"/>
          <p:cNvSpPr/>
          <p:nvPr/>
        </p:nvSpPr>
        <p:spPr>
          <a:xfrm>
            <a:off x="15786000" y="20700000"/>
            <a:ext cx="4446000" cy="2952000"/>
          </a:xfrm>
          <a:prstGeom prst="roundRect">
            <a:avLst>
              <a:gd name="adj" fmla="val 3659"/>
            </a:avLst>
          </a:prstGeom>
          <a:solidFill>
            <a:schemeClr val="bg2"/>
          </a:solidFill>
          <a:ln/>
        </p:spPr>
      </p:sp>
      <p:sp>
        <p:nvSpPr>
          <p:cNvPr id="78" name="icon-circle-73"/>
          <p:cNvSpPr/>
          <p:nvPr/>
        </p:nvSpPr>
        <p:spPr>
          <a:xfrm>
            <a:off x="15966000" y="20880000"/>
            <a:ext cx="576000" cy="57600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9" name="icon-74" descr="shield check icon">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16092720" y="21006720"/>
            <a:ext cx="322560" cy="322560"/>
          </a:xfrm>
          <a:prstGeom prst="rect">
            <a:avLst/>
          </a:prstGeom>
        </p:spPr>
      </p:pic>
      <p:sp>
        <p:nvSpPr>
          <p:cNvPr id="80" name="text-75"/>
          <p:cNvSpPr txBox="1"/>
          <p:nvPr/>
        </p:nvSpPr>
        <p:spPr>
          <a:xfrm>
            <a:off x="16686000" y="20880000"/>
            <a:ext cx="3438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PROVING IT WORKS</a:t>
            </a:r>
            <a:endParaRPr lang="en-US" sz="2600" dirty="0"/>
          </a:p>
        </p:txBody>
      </p:sp>
      <p:sp>
        <p:nvSpPr>
          <p:cNvPr id="81" name="text-76"/>
          <p:cNvSpPr txBox="1"/>
          <p:nvPr/>
        </p:nvSpPr>
        <p:spPr>
          <a:xfrm>
            <a:off x="15966000" y="21636000"/>
            <a:ext cx="4086000" cy="194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dirty="0">
                <a:solidFill>
                  <a:schemeClr val="tx1"/>
                </a:solidFill>
              </a:rPr>
              <a:t>The rules sit apart from the server, so each is tested exactly. 300 random games hunt for leaks.</a:t>
            </a:r>
            <a:endParaRPr lang="en-US" sz="2700" dirty="0"/>
          </a:p>
        </p:txBody>
      </p:sp>
      <p:sp>
        <p:nvSpPr>
          <p:cNvPr id="82" name="shape-77"/>
          <p:cNvSpPr/>
          <p:nvPr/>
        </p:nvSpPr>
        <p:spPr>
          <a:xfrm>
            <a:off x="1080000" y="24228000"/>
            <a:ext cx="7992000" cy="4464000"/>
          </a:xfrm>
          <a:prstGeom prst="roundRect">
            <a:avLst>
              <a:gd name="adj" fmla="val 2419"/>
            </a:avLst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83" name="shape-78"/>
          <p:cNvSpPr/>
          <p:nvPr/>
        </p:nvSpPr>
        <p:spPr>
          <a:xfrm>
            <a:off x="1296000" y="24372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accent1"/>
          </a:solidFill>
          <a:ln/>
        </p:spPr>
      </p:sp>
      <p:pic>
        <p:nvPicPr>
          <p:cNvPr id="84" name="icon-79" descr="layers icon">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386000" y="24462000"/>
            <a:ext cx="288000" cy="288000"/>
          </a:xfrm>
          <a:prstGeom prst="rect">
            <a:avLst/>
          </a:prstGeom>
        </p:spPr>
      </p:pic>
      <p:sp>
        <p:nvSpPr>
          <p:cNvPr id="85" name="text-80"/>
          <p:cNvSpPr txBox="1"/>
          <p:nvPr/>
        </p:nvSpPr>
        <p:spPr>
          <a:xfrm>
            <a:off x="1908000" y="24336000"/>
            <a:ext cx="6912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 STACK</a:t>
            </a:r>
            <a:endParaRPr lang="en-US" sz="4000" dirty="0"/>
          </a:p>
        </p:txBody>
      </p:sp>
      <p:sp>
        <p:nvSpPr>
          <p:cNvPr id="86" name="rule-81"/>
          <p:cNvSpPr/>
          <p:nvPr/>
        </p:nvSpPr>
        <p:spPr>
          <a:xfrm>
            <a:off x="1080000" y="24984000"/>
            <a:ext cx="799200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87" name="text-82"/>
          <p:cNvSpPr txBox="1"/>
          <p:nvPr/>
        </p:nvSpPr>
        <p:spPr>
          <a:xfrm>
            <a:off x="1368000" y="25164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Screens</a:t>
            </a:r>
            <a:endParaRPr lang="en-US" sz="2400" dirty="0"/>
          </a:p>
        </p:txBody>
      </p:sp>
      <p:sp>
        <p:nvSpPr>
          <p:cNvPr id="88" name="chip-83"/>
          <p:cNvSpPr/>
          <p:nvPr/>
        </p:nvSpPr>
        <p:spPr>
          <a:xfrm>
            <a:off x="3168000" y="25164000"/>
            <a:ext cx="11124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Vue 3</a:t>
            </a:r>
            <a:endParaRPr lang="en-US" sz="2200" dirty="0"/>
          </a:p>
        </p:txBody>
      </p:sp>
      <p:sp>
        <p:nvSpPr>
          <p:cNvPr id="89" name="chip-84"/>
          <p:cNvSpPr/>
          <p:nvPr/>
        </p:nvSpPr>
        <p:spPr>
          <a:xfrm>
            <a:off x="4424400" y="25164000"/>
            <a:ext cx="18648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TypeScript</a:t>
            </a:r>
            <a:endParaRPr lang="en-US" sz="2200" dirty="0"/>
          </a:p>
        </p:txBody>
      </p:sp>
      <p:sp>
        <p:nvSpPr>
          <p:cNvPr id="90" name="chip-85"/>
          <p:cNvSpPr/>
          <p:nvPr/>
        </p:nvSpPr>
        <p:spPr>
          <a:xfrm>
            <a:off x="6433200" y="25164000"/>
            <a:ext cx="21657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Tailwind CSS</a:t>
            </a:r>
            <a:endParaRPr lang="en-US" sz="2200" dirty="0"/>
          </a:p>
        </p:txBody>
      </p:sp>
      <p:sp>
        <p:nvSpPr>
          <p:cNvPr id="91" name="text-86"/>
          <p:cNvSpPr txBox="1"/>
          <p:nvPr/>
        </p:nvSpPr>
        <p:spPr>
          <a:xfrm>
            <a:off x="1368000" y="25722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Map</a:t>
            </a:r>
            <a:endParaRPr lang="en-US" sz="2400" dirty="0"/>
          </a:p>
        </p:txBody>
      </p:sp>
      <p:sp>
        <p:nvSpPr>
          <p:cNvPr id="92" name="chip-87"/>
          <p:cNvSpPr/>
          <p:nvPr/>
        </p:nvSpPr>
        <p:spPr>
          <a:xfrm>
            <a:off x="3168000" y="25722000"/>
            <a:ext cx="201528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MapLibre GL</a:t>
            </a:r>
            <a:endParaRPr lang="en-US" sz="2200" dirty="0"/>
          </a:p>
        </p:txBody>
      </p:sp>
      <p:sp>
        <p:nvSpPr>
          <p:cNvPr id="93" name="chip-88"/>
          <p:cNvSpPr/>
          <p:nvPr/>
        </p:nvSpPr>
        <p:spPr>
          <a:xfrm>
            <a:off x="5327280" y="25722000"/>
            <a:ext cx="231624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OpenStreetMap</a:t>
            </a:r>
            <a:endParaRPr lang="en-US" sz="2200" dirty="0"/>
          </a:p>
        </p:txBody>
      </p:sp>
      <p:sp>
        <p:nvSpPr>
          <p:cNvPr id="94" name="text-89"/>
          <p:cNvSpPr txBox="1"/>
          <p:nvPr/>
        </p:nvSpPr>
        <p:spPr>
          <a:xfrm>
            <a:off x="1368000" y="26280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Server</a:t>
            </a:r>
            <a:endParaRPr lang="en-US" sz="2400" dirty="0"/>
          </a:p>
        </p:txBody>
      </p:sp>
      <p:sp>
        <p:nvSpPr>
          <p:cNvPr id="95" name="chip-90"/>
          <p:cNvSpPr/>
          <p:nvPr/>
        </p:nvSpPr>
        <p:spPr>
          <a:xfrm>
            <a:off x="3168000" y="26280000"/>
            <a:ext cx="14133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Java 21</a:t>
            </a:r>
            <a:endParaRPr lang="en-US" sz="2200" dirty="0"/>
          </a:p>
        </p:txBody>
      </p:sp>
      <p:sp>
        <p:nvSpPr>
          <p:cNvPr id="96" name="chip-91"/>
          <p:cNvSpPr/>
          <p:nvPr/>
        </p:nvSpPr>
        <p:spPr>
          <a:xfrm>
            <a:off x="4725360" y="26280000"/>
            <a:ext cx="201528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Spring Boot</a:t>
            </a:r>
            <a:endParaRPr lang="en-US" sz="2200" dirty="0"/>
          </a:p>
        </p:txBody>
      </p:sp>
      <p:sp>
        <p:nvSpPr>
          <p:cNvPr id="97" name="text-92"/>
          <p:cNvSpPr txBox="1"/>
          <p:nvPr/>
        </p:nvSpPr>
        <p:spPr>
          <a:xfrm>
            <a:off x="1368000" y="26838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Live</a:t>
            </a:r>
            <a:endParaRPr lang="en-US" sz="2400" dirty="0"/>
          </a:p>
        </p:txBody>
      </p:sp>
      <p:sp>
        <p:nvSpPr>
          <p:cNvPr id="98" name="chip-93"/>
          <p:cNvSpPr/>
          <p:nvPr/>
        </p:nvSpPr>
        <p:spPr>
          <a:xfrm>
            <a:off x="3168000" y="26838000"/>
            <a:ext cx="18648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WebSockets</a:t>
            </a:r>
            <a:endParaRPr lang="en-US" sz="2200" dirty="0"/>
          </a:p>
        </p:txBody>
      </p:sp>
      <p:sp>
        <p:nvSpPr>
          <p:cNvPr id="99" name="chip-94"/>
          <p:cNvSpPr/>
          <p:nvPr/>
        </p:nvSpPr>
        <p:spPr>
          <a:xfrm>
            <a:off x="5176800" y="26838000"/>
            <a:ext cx="111240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STOMP</a:t>
            </a:r>
            <a:endParaRPr lang="en-US" sz="2200" dirty="0"/>
          </a:p>
        </p:txBody>
      </p:sp>
      <p:sp>
        <p:nvSpPr>
          <p:cNvPr id="100" name="text-95"/>
          <p:cNvSpPr txBox="1"/>
          <p:nvPr/>
        </p:nvSpPr>
        <p:spPr>
          <a:xfrm>
            <a:off x="1368000" y="27396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Testing</a:t>
            </a:r>
            <a:endParaRPr lang="en-US" sz="2400" dirty="0"/>
          </a:p>
        </p:txBody>
      </p:sp>
      <p:sp>
        <p:nvSpPr>
          <p:cNvPr id="101" name="chip-96"/>
          <p:cNvSpPr/>
          <p:nvPr/>
        </p:nvSpPr>
        <p:spPr>
          <a:xfrm>
            <a:off x="3168000" y="27396000"/>
            <a:ext cx="14133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JUnit 5</a:t>
            </a:r>
            <a:endParaRPr lang="en-US" sz="2200" dirty="0"/>
          </a:p>
        </p:txBody>
      </p:sp>
      <p:sp>
        <p:nvSpPr>
          <p:cNvPr id="102" name="chip-97"/>
          <p:cNvSpPr/>
          <p:nvPr/>
        </p:nvSpPr>
        <p:spPr>
          <a:xfrm>
            <a:off x="4725360" y="27396000"/>
            <a:ext cx="14133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Mockito</a:t>
            </a:r>
            <a:endParaRPr lang="en-US" sz="2200" dirty="0"/>
          </a:p>
        </p:txBody>
      </p:sp>
      <p:sp>
        <p:nvSpPr>
          <p:cNvPr id="103" name="chip-98"/>
          <p:cNvSpPr/>
          <p:nvPr/>
        </p:nvSpPr>
        <p:spPr>
          <a:xfrm>
            <a:off x="6282720" y="27396000"/>
            <a:ext cx="81144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PIT</a:t>
            </a:r>
            <a:endParaRPr lang="en-US" sz="2200" dirty="0"/>
          </a:p>
        </p:txBody>
      </p:sp>
      <p:sp>
        <p:nvSpPr>
          <p:cNvPr id="104" name="text-99"/>
          <p:cNvSpPr txBox="1"/>
          <p:nvPr/>
        </p:nvSpPr>
        <p:spPr>
          <a:xfrm>
            <a:off x="1368000" y="27954000"/>
            <a:ext cx="1800000" cy="39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Hosting</a:t>
            </a:r>
            <a:endParaRPr lang="en-US" sz="2400" dirty="0"/>
          </a:p>
        </p:txBody>
      </p:sp>
      <p:sp>
        <p:nvSpPr>
          <p:cNvPr id="105" name="chip-100"/>
          <p:cNvSpPr/>
          <p:nvPr/>
        </p:nvSpPr>
        <p:spPr>
          <a:xfrm>
            <a:off x="3168000" y="27954000"/>
            <a:ext cx="126288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Docker</a:t>
            </a:r>
            <a:endParaRPr lang="en-US" sz="2200" dirty="0"/>
          </a:p>
        </p:txBody>
      </p:sp>
      <p:sp>
        <p:nvSpPr>
          <p:cNvPr id="106" name="chip-101"/>
          <p:cNvSpPr/>
          <p:nvPr/>
        </p:nvSpPr>
        <p:spPr>
          <a:xfrm>
            <a:off x="4574880" y="27954000"/>
            <a:ext cx="2918160" cy="3960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Cloudflare Tunnel</a:t>
            </a:r>
            <a:endParaRPr lang="en-US" sz="2200" dirty="0"/>
          </a:p>
        </p:txBody>
      </p:sp>
      <p:sp>
        <p:nvSpPr>
          <p:cNvPr id="107" name="shape-102"/>
          <p:cNvSpPr/>
          <p:nvPr/>
        </p:nvSpPr>
        <p:spPr>
          <a:xfrm>
            <a:off x="9504000" y="24228000"/>
            <a:ext cx="11016000" cy="4464000"/>
          </a:xfrm>
          <a:prstGeom prst="roundRect">
            <a:avLst>
              <a:gd name="adj" fmla="val 2419"/>
            </a:avLst>
          </a:prstGeom>
          <a:solidFill>
            <a:schemeClr val="accent1"/>
          </a:solidFill>
          <a:ln/>
        </p:spPr>
      </p:sp>
      <p:sp>
        <p:nvSpPr>
          <p:cNvPr id="108" name="shape-103"/>
          <p:cNvSpPr/>
          <p:nvPr/>
        </p:nvSpPr>
        <p:spPr>
          <a:xfrm>
            <a:off x="9720000" y="24372000"/>
            <a:ext cx="468000" cy="468000"/>
          </a:xfrm>
          <a:prstGeom prst="roundRect">
            <a:avLst>
              <a:gd name="adj" fmla="val 15385"/>
            </a:avLst>
          </a:prstGeom>
          <a:solidFill>
            <a:schemeClr val="tx1"/>
          </a:solidFill>
          <a:ln/>
        </p:spPr>
      </p:sp>
      <p:pic>
        <p:nvPicPr>
          <p:cNvPr id="109" name="icon-104" descr="clipboard check icon">    </p:cNvPr>
          <p:cNvPicPr>
            <a:picLocks noChangeAspect="1"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810000" y="24462000"/>
            <a:ext cx="288000" cy="288000"/>
          </a:xfrm>
          <a:prstGeom prst="rect">
            <a:avLst/>
          </a:prstGeom>
        </p:spPr>
      </p:pic>
      <p:sp>
        <p:nvSpPr>
          <p:cNvPr id="110" name="text-105"/>
          <p:cNvSpPr txBox="1"/>
          <p:nvPr/>
        </p:nvSpPr>
        <p:spPr>
          <a:xfrm>
            <a:off x="10332000" y="24336000"/>
            <a:ext cx="9936000" cy="50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&amp; OUTCOME</a:t>
            </a:r>
            <a:endParaRPr lang="en-US" sz="4000" dirty="0"/>
          </a:p>
        </p:txBody>
      </p:sp>
      <p:sp>
        <p:nvSpPr>
          <p:cNvPr id="111" name="shape-106"/>
          <p:cNvSpPr/>
          <p:nvPr/>
        </p:nvSpPr>
        <p:spPr>
          <a:xfrm>
            <a:off x="9792000" y="25092000"/>
            <a:ext cx="2448000" cy="144000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/>
        </p:spPr>
      </p:sp>
      <p:sp>
        <p:nvSpPr>
          <p:cNvPr id="112" name="text-107"/>
          <p:cNvSpPr txBox="1"/>
          <p:nvPr/>
        </p:nvSpPr>
        <p:spPr>
          <a:xfrm>
            <a:off x="9792000" y="25164000"/>
            <a:ext cx="2448000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135</a:t>
            </a:r>
            <a:endParaRPr lang="en-US" sz="4800" dirty="0"/>
          </a:p>
        </p:txBody>
      </p:sp>
      <p:sp>
        <p:nvSpPr>
          <p:cNvPr id="113" name="text-108"/>
          <p:cNvSpPr txBox="1"/>
          <p:nvPr/>
        </p:nvSpPr>
        <p:spPr>
          <a:xfrm>
            <a:off x="9900000" y="25812000"/>
            <a:ext cx="2232000" cy="68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automated tests, all passing</a:t>
            </a:r>
            <a:endParaRPr lang="en-US" sz="2200" dirty="0"/>
          </a:p>
        </p:txBody>
      </p:sp>
      <p:sp>
        <p:nvSpPr>
          <p:cNvPr id="114" name="shape-109"/>
          <p:cNvSpPr/>
          <p:nvPr/>
        </p:nvSpPr>
        <p:spPr>
          <a:xfrm>
            <a:off x="12456000" y="25092000"/>
            <a:ext cx="2448000" cy="144000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/>
        </p:spPr>
      </p:sp>
      <p:sp>
        <p:nvSpPr>
          <p:cNvPr id="115" name="text-110"/>
          <p:cNvSpPr txBox="1"/>
          <p:nvPr/>
        </p:nvSpPr>
        <p:spPr>
          <a:xfrm>
            <a:off x="12456000" y="25164000"/>
            <a:ext cx="2448000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99.2%</a:t>
            </a:r>
            <a:endParaRPr lang="en-US" sz="4800" dirty="0"/>
          </a:p>
        </p:txBody>
      </p:sp>
      <p:sp>
        <p:nvSpPr>
          <p:cNvPr id="116" name="text-111"/>
          <p:cNvSpPr txBox="1"/>
          <p:nvPr/>
        </p:nvSpPr>
        <p:spPr>
          <a:xfrm>
            <a:off x="12564000" y="25812000"/>
            <a:ext cx="2232000" cy="68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of server code lines covered</a:t>
            </a:r>
            <a:endParaRPr lang="en-US" sz="2200" dirty="0"/>
          </a:p>
        </p:txBody>
      </p:sp>
      <p:sp>
        <p:nvSpPr>
          <p:cNvPr id="117" name="shape-112"/>
          <p:cNvSpPr/>
          <p:nvPr/>
        </p:nvSpPr>
        <p:spPr>
          <a:xfrm>
            <a:off x="15120000" y="25092000"/>
            <a:ext cx="2448000" cy="144000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/>
        </p:spPr>
      </p:sp>
      <p:sp>
        <p:nvSpPr>
          <p:cNvPr id="118" name="text-113"/>
          <p:cNvSpPr txBox="1"/>
          <p:nvPr/>
        </p:nvSpPr>
        <p:spPr>
          <a:xfrm>
            <a:off x="15120000" y="25164000"/>
            <a:ext cx="2448000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800" dirty="0"/>
          </a:p>
        </p:txBody>
      </p:sp>
      <p:sp>
        <p:nvSpPr>
          <p:cNvPr id="119" name="text-114"/>
          <p:cNvSpPr txBox="1"/>
          <p:nvPr/>
        </p:nvSpPr>
        <p:spPr>
          <a:xfrm>
            <a:off x="15228000" y="25812000"/>
            <a:ext cx="2232000" cy="68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of 199 planted bugs caught</a:t>
            </a:r>
            <a:endParaRPr lang="en-US" sz="2200" dirty="0"/>
          </a:p>
        </p:txBody>
      </p:sp>
      <p:sp>
        <p:nvSpPr>
          <p:cNvPr id="120" name="shape-115"/>
          <p:cNvSpPr/>
          <p:nvPr/>
        </p:nvSpPr>
        <p:spPr>
          <a:xfrm>
            <a:off x="17784000" y="25092000"/>
            <a:ext cx="2448000" cy="1440000"/>
          </a:xfrm>
          <a:prstGeom prst="roundRect">
            <a:avLst>
              <a:gd name="adj" fmla="val 7500"/>
            </a:avLst>
          </a:prstGeom>
          <a:solidFill>
            <a:schemeClr val="tx1"/>
          </a:solidFill>
          <a:ln/>
        </p:spPr>
      </p:sp>
      <p:sp>
        <p:nvSpPr>
          <p:cNvPr id="121" name="text-116"/>
          <p:cNvSpPr txBox="1"/>
          <p:nvPr/>
        </p:nvSpPr>
        <p:spPr>
          <a:xfrm>
            <a:off x="17784000" y="25164000"/>
            <a:ext cx="2448000" cy="61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800" dirty="0"/>
          </a:p>
        </p:txBody>
      </p:sp>
      <p:sp>
        <p:nvSpPr>
          <p:cNvPr id="122" name="text-117"/>
          <p:cNvSpPr txBox="1"/>
          <p:nvPr/>
        </p:nvSpPr>
        <p:spPr>
          <a:xfrm>
            <a:off x="17892000" y="25812000"/>
            <a:ext cx="2232000" cy="68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rounds of user testing</a:t>
            </a:r>
            <a:endParaRPr lang="en-US" sz="2200" dirty="0"/>
          </a:p>
        </p:txBody>
      </p:sp>
      <p:sp>
        <p:nvSpPr>
          <p:cNvPr id="123" name="text-118"/>
          <p:cNvSpPr txBox="1"/>
          <p:nvPr/>
        </p:nvSpPr>
        <p:spPr>
          <a:xfrm>
            <a:off x="9792000" y="26748000"/>
            <a:ext cx="5004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OUTCOME</a:t>
            </a:r>
            <a:endParaRPr lang="en-US" sz="2600" dirty="0"/>
          </a:p>
        </p:txBody>
      </p:sp>
      <p:sp>
        <p:nvSpPr>
          <p:cNvPr id="124" name="text-119"/>
          <p:cNvSpPr txBox="1"/>
          <p:nvPr/>
        </p:nvSpPr>
        <p:spPr>
          <a:xfrm>
            <a:off x="9792000" y="27180000"/>
            <a:ext cx="5004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Played live at Open Day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Anyone can join over the internet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Ready for future Open Days</a:t>
            </a:r>
            <a:endParaRPr lang="en-US" sz="2600" dirty="0"/>
          </a:p>
        </p:txBody>
      </p:sp>
      <p:sp>
        <p:nvSpPr>
          <p:cNvPr id="125" name="text-120"/>
          <p:cNvSpPr txBox="1"/>
          <p:nvPr/>
        </p:nvSpPr>
        <p:spPr>
          <a:xfrm>
            <a:off x="15228000" y="26748000"/>
            <a:ext cx="5004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spc="200" kern="0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600" dirty="0"/>
          </a:p>
        </p:txBody>
      </p:sp>
      <p:sp>
        <p:nvSpPr>
          <p:cNvPr id="126" name="text-121"/>
          <p:cNvSpPr txBox="1"/>
          <p:nvPr/>
        </p:nvSpPr>
        <p:spPr>
          <a:xfrm>
            <a:off x="15228000" y="27180000"/>
            <a:ext cx="5004000" cy="136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A big-screen view for the stand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A phone-friendly layout</a:t>
            </a:r>
            <a:endParaRPr lang="en-US" sz="2600" dirty="0"/>
          </a:p>
          <a:p>
            <a:pPr marL="254000" indent="-254000">
              <a:spcAft>
                <a:spcPts val="600"/>
              </a:spcAft>
              <a:buSzPct val="100000"/>
              <a:buChar char="•"/>
            </a:pPr>
            <a:r>
              <a:rPr lang="en-US" sz="2600" dirty="0">
                <a:solidFill>
                  <a:schemeClr val="bg1"/>
                </a:solidFill>
              </a:rPr>
              <a:t>Computer players for solo games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unting Mr X">
  <a:themeElements>
    <a:clrScheme name="Hunting Mr X">
      <a:dk1>
        <a:srgbClr val="111827"/>
      </a:dk1>
      <a:lt1>
        <a:srgbClr val="FFFFFF"/>
      </a:lt1>
      <a:dk2>
        <a:srgbClr val="4B5563"/>
      </a:dk2>
      <a:lt2>
        <a:srgbClr val="EAF3F1"/>
      </a:lt2>
      <a:accent1>
        <a:srgbClr val="3E7B74"/>
      </a:accent1>
      <a:accent2>
        <a:srgbClr val="BFE0DA"/>
      </a:accent2>
      <a:accent3>
        <a:srgbClr val="22C55E"/>
      </a:accent3>
      <a:accent4>
        <a:srgbClr val="EF4444"/>
      </a:accent4>
      <a:accent5>
        <a:srgbClr val="8B5CF6"/>
      </a:accent5>
      <a:accent6>
        <a:srgbClr val="06B6D4"/>
      </a:accent6>
      <a:hlink>
        <a:srgbClr val="3E7B74"/>
      </a:hlink>
      <a:folHlink>
        <a:srgbClr val="8B5CF6"/>
      </a:folHlink>
    </a:clrScheme>
    <a:fontScheme name="Hunting Mr X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Hunting Mr. X: Wellington Edition</dc:title>
  <dc:subject>PptxGenJS Presentation</dc:subject>
  <dc:creator>Ming Bao</dc:creator>
  <cp:lastModifiedBy>Ming Bao</cp:lastModifiedBy>
  <cp:revision>1</cp:revision>
  <dcterms:created xsi:type="dcterms:W3CDTF">2026-10-15T22:57:26Z</dcterms:created>
  <dcterms:modified xsi:type="dcterms:W3CDTF">2026-10-15T22:57:26Z</dcterms:modified>
</cp:coreProperties>
</file>